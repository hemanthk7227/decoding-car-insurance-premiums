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89" r:id="rId2"/>
    <p:sldId id="288" r:id="rId3"/>
    <p:sldId id="276" r:id="rId4"/>
    <p:sldId id="280" r:id="rId5"/>
    <p:sldId id="274" r:id="rId6"/>
    <p:sldId id="281" r:id="rId7"/>
    <p:sldId id="287" r:id="rId8"/>
    <p:sldId id="286" r:id="rId9"/>
    <p:sldId id="285" r:id="rId10"/>
    <p:sldId id="284" r:id="rId11"/>
    <p:sldId id="282" r:id="rId12"/>
    <p:sldId id="279" r:id="rId13"/>
    <p:sldId id="278" r:id="rId14"/>
    <p:sldId id="272" r:id="rId15"/>
    <p:sldId id="270" r:id="rId16"/>
    <p:sldId id="291" r:id="rId17"/>
    <p:sldId id="271" r:id="rId18"/>
    <p:sldId id="283" r:id="rId19"/>
    <p:sldId id="273" r:id="rId20"/>
    <p:sldId id="269" r:id="rId21"/>
    <p:sldId id="277" r:id="rId22"/>
    <p:sldId id="27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C4DCF9F-848D-098C-14C6-EE41A76DB3A5}" name="Andrew Prem Robert Erpula" initials="AE" userId="S::11045583@live.mercer.edu::285389a3-5552-406f-a438-cc7504e3a05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A51C"/>
    <a:srgbClr val="290DFF"/>
    <a:srgbClr val="BF195B"/>
    <a:srgbClr val="2873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6"/>
    <p:restoredTop sz="94710"/>
  </p:normalViewPr>
  <p:slideViewPr>
    <p:cSldViewPr snapToGrid="0">
      <p:cViewPr varScale="1">
        <p:scale>
          <a:sx n="150" d="100"/>
          <a:sy n="150" d="100"/>
        </p:scale>
        <p:origin x="18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5445FF-C734-624F-A995-A9BE9D029E9B}" type="datetimeFigureOut">
              <a:rPr lang="en-US" smtClean="0"/>
              <a:t>3/4/24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F13907-7A36-A341-BA07-E40E83F4B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93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13907-7A36-A341-BA07-E40E83F4BAE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682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5CFC1-9AFE-7D1C-3803-0E59CCDC07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F3F34E-0A9F-912B-4DFD-FA68907FA2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743F4-3D64-E718-44B6-DDFA4DAEE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8A874-0D13-7140-9CB1-C5B27F6AC07C}" type="datetime1">
              <a:rPr lang="en-IN" smtClean="0"/>
              <a:t>04/03/24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F9047-C439-7FF4-7E6B-BF4FA1371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26FCA-0BF0-A0EF-3BFA-9A6DA91E1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2EEC-1B12-5740-85F0-EB94F2C45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487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155F4-9141-37BD-6C38-916D3E357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951DC-1822-BC01-E2DB-8BFC8CC3A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87221-66AB-6A0A-53AD-F09574E8E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7438B-5C42-F14F-8DCC-E53D5D9C96D8}" type="datetime1">
              <a:rPr lang="en-IN" smtClean="0"/>
              <a:t>04/03/24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A08BC-7757-B784-CE90-4367C5FEB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265D5-F3B3-E205-0161-E6B9FB10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2EEC-1B12-5740-85F0-EB94F2C45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909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44C2D-0680-EE34-00EE-873FFC906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1BDB37-69AA-E4A4-FCE4-64CC8A208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21CF8-079F-2010-2082-A0DE7AB2E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8D269-05EE-C44E-9972-9487EFF1A293}" type="datetime1">
              <a:rPr lang="en-IN" smtClean="0"/>
              <a:t>04/03/24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55781-A686-9F0D-6016-DD4A5E16C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8A1E5-2E26-E03C-7585-61F9AF8B3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2EEC-1B12-5740-85F0-EB94F2C45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872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36F6-63D6-2D4B-565F-CCC0DA19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9DAC7-3181-B255-08A2-094540E43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5D3428-F301-8FE5-200A-62C2251B2F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99FED-E488-89A7-08BE-38B671608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9B237-EFBC-9640-BFB7-642B398753E5}" type="datetime1">
              <a:rPr lang="en-IN" smtClean="0"/>
              <a:t>04/03/24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2B211-3A03-3A9F-7DCE-65634DFCF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62BC5-F8F9-BCBC-8B7C-94D9F0129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2EEC-1B12-5740-85F0-EB94F2C45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136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31810-9B77-28A2-F5DB-9080AF1F9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052C3-5CA8-F24D-1B91-FB3200FAC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A31D56-725E-F889-48E6-6AA055E55C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5C529A-FADF-A6D2-8552-80FB292805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1FE932-CBD1-A172-7B51-F728716B6A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18A072-7458-0A39-183A-2B67618C1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25EE3-E220-C642-A02A-A71B44021F0F}" type="datetime1">
              <a:rPr lang="en-IN" smtClean="0"/>
              <a:t>04/03/24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413258-918D-D023-950B-EBAD6857D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4D2525-B187-C205-159F-83899A913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2EEC-1B12-5740-85F0-EB94F2C45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66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7156E-2847-9E73-69E8-934DE2453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0C1912-0A40-4980-6EB5-A25C90FDD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F1CB0-1159-604E-9385-699E1FCC9707}" type="datetime1">
              <a:rPr lang="en-IN" smtClean="0"/>
              <a:t>04/03/24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EBCFB9-C322-8E35-8295-4A5B9AB46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B92961-20F3-D6EC-C3CD-427D2E3EB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2EEC-1B12-5740-85F0-EB94F2C45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441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9D16C9-386D-8124-F0F3-E08E98EE5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C457B-0A7A-C948-80A3-7E70159F6E63}" type="datetime1">
              <a:rPr lang="en-IN" smtClean="0"/>
              <a:t>04/03/24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689E7F-FD15-DE71-63BE-70ACF6F04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14643-62A1-4BF2-8C92-E9F88B680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2EEC-1B12-5740-85F0-EB94F2C45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906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45618-BF94-1AFD-6100-D5AD76A0F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5E2BB-1033-7B88-1201-AF8DE787F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D7E899-D4DA-022C-11C2-D37324FAEB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0E26F5-5FA7-5199-0E46-0AF23E9FA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E45E1-8FC5-4D4A-9EA6-1509FB96AD40}" type="datetime1">
              <a:rPr lang="en-IN" smtClean="0"/>
              <a:t>04/03/24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521CF-1FFE-76B3-D511-6DD764E98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E613C-05FA-93C3-8845-701F1F56C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2EEC-1B12-5740-85F0-EB94F2C45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200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4F167-22BE-1E10-B5F8-92D55823A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81F282-8A24-D9D1-5316-551F505091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D401E5-0B79-A505-9F15-1F8DD203A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30892-AAC8-2720-3095-EDFF0A8B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983F8-28D4-614F-A14F-A5232540BDCB}" type="datetime1">
              <a:rPr lang="en-IN" smtClean="0"/>
              <a:t>04/03/24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3DF7FE-3181-4358-CBC0-05E70BE3E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FFDF6B-6AB9-6751-1B7C-796418DD7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2EEC-1B12-5740-85F0-EB94F2C45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076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9084F-C2E1-D9AE-0A77-DD29425D7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683C2D-CF36-000D-2DB0-48D22B5663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4B955-A0CA-50BF-7B29-264F68040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BCD93-23D4-B840-B1C5-2BED0A225E2B}" type="datetime1">
              <a:rPr lang="en-IN" smtClean="0"/>
              <a:t>04/03/24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A7B58-2427-FEFA-380C-29EFF7B8B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97D3F-0D97-B4AC-B74A-D3D2B529C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2EEC-1B12-5740-85F0-EB94F2C45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774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D6E7AB-8FBF-083A-F6EC-BC759A363C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F79A7E-B1F8-B247-40A9-B5875F6E3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1865D-8522-E0E2-DDC1-13F4D5557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C0321-F5D2-7344-A2CE-2EC5C1AD7A52}" type="datetime1">
              <a:rPr lang="en-IN" smtClean="0"/>
              <a:t>04/03/24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A3289-20E0-2F33-5A56-E631AD3B8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C8C6B-D10F-AAE6-3FD7-7D243FCBD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2EEC-1B12-5740-85F0-EB94F2C45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664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B44498-AD4B-A31D-27E4-CB4EA55B4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68028-5D6C-BB43-68DB-BB713C445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6C468-8F7E-6BDC-A30D-29A35BA8D8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1617C-1D71-F64D-BB63-46027F9F392A}" type="datetime1">
              <a:rPr lang="en-IN" smtClean="0"/>
              <a:t>04/03/24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C80E3-04FB-7074-1194-C3E69A99ED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E02B3-4DA4-CCED-376B-7019AA2632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C02EEC-1B12-5740-85F0-EB94F2C45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330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8.svg"/><Relationship Id="rId4" Type="http://schemas.openxmlformats.org/officeDocument/2006/relationships/image" Target="../media/image13.pn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9B1DBFA-40F0-EA01-C61B-9273222A3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93698" y="3659492"/>
            <a:ext cx="8698302" cy="208708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IN" sz="2000" b="1" dirty="0">
                <a:solidFill>
                  <a:srgbClr val="FF0000"/>
                </a:solidFill>
                <a:latin typeface="Desdemona" pitchFamily="82" charset="77"/>
                <a:cs typeface="Calibri"/>
              </a:rPr>
              <a:t>By:</a:t>
            </a:r>
            <a:endParaRPr lang="en-IN" sz="2000" b="1" dirty="0">
              <a:solidFill>
                <a:srgbClr val="FF0000"/>
              </a:solidFill>
              <a:effectLst/>
              <a:latin typeface="Desdemona" pitchFamily="82" charset="77"/>
              <a:cs typeface="Calibri"/>
            </a:endParaRPr>
          </a:p>
          <a:p>
            <a:pPr algn="r"/>
            <a:r>
              <a:rPr lang="en-IN" sz="2000" b="1" dirty="0">
                <a:solidFill>
                  <a:srgbClr val="FF0000"/>
                </a:solidFill>
                <a:effectLst/>
                <a:latin typeface="Desdemona" pitchFamily="82" charset="77"/>
                <a:cs typeface="Calibri"/>
              </a:rPr>
              <a:t>Andrew Prem Robert</a:t>
            </a:r>
            <a:endParaRPr lang="en-IN" sz="2000" b="1" dirty="0">
              <a:solidFill>
                <a:srgbClr val="FF0000"/>
              </a:solidFill>
              <a:effectLst/>
              <a:latin typeface="Desdemona" pitchFamily="82" charset="77"/>
              <a:ea typeface="Calibri"/>
              <a:cs typeface="Calibri"/>
            </a:endParaRPr>
          </a:p>
          <a:p>
            <a:pPr algn="r"/>
            <a:r>
              <a:rPr lang="en-IN" sz="2000" b="1" dirty="0">
                <a:solidFill>
                  <a:srgbClr val="FF0000"/>
                </a:solidFill>
                <a:effectLst/>
                <a:latin typeface="Desdemona" pitchFamily="82" charset="77"/>
                <a:cs typeface="Calibri"/>
              </a:rPr>
              <a:t>Abdel </a:t>
            </a:r>
            <a:r>
              <a:rPr lang="en-IN" sz="2000" b="1" dirty="0" err="1">
                <a:solidFill>
                  <a:srgbClr val="FF0000"/>
                </a:solidFill>
                <a:effectLst/>
                <a:latin typeface="Desdemona" pitchFamily="82" charset="77"/>
                <a:cs typeface="Calibri"/>
              </a:rPr>
              <a:t>Ouedraogo</a:t>
            </a:r>
            <a:endParaRPr lang="en-IN" sz="2000" b="1" dirty="0">
              <a:solidFill>
                <a:srgbClr val="FF0000"/>
              </a:solidFill>
              <a:latin typeface="Desdemona" pitchFamily="82" charset="77"/>
              <a:cs typeface="Calibri"/>
            </a:endParaRPr>
          </a:p>
          <a:p>
            <a:pPr algn="r"/>
            <a:r>
              <a:rPr lang="en-IN" sz="2000" b="1" dirty="0">
                <a:solidFill>
                  <a:srgbClr val="FF0000"/>
                </a:solidFill>
                <a:effectLst/>
                <a:latin typeface="Desdemona" pitchFamily="82" charset="77"/>
                <a:cs typeface="Calibri"/>
              </a:rPr>
              <a:t>Hemanth </a:t>
            </a:r>
            <a:r>
              <a:rPr lang="en-IN" sz="2000" b="1" dirty="0" err="1">
                <a:solidFill>
                  <a:srgbClr val="FF0000"/>
                </a:solidFill>
                <a:effectLst/>
                <a:latin typeface="Desdemona" pitchFamily="82" charset="77"/>
                <a:cs typeface="Calibri"/>
              </a:rPr>
              <a:t>Kothapalli</a:t>
            </a:r>
            <a:r>
              <a:rPr lang="en-IN" sz="2000" b="1" dirty="0">
                <a:solidFill>
                  <a:srgbClr val="FF0000"/>
                </a:solidFill>
                <a:latin typeface="Desdemona" pitchFamily="82" charset="77"/>
                <a:cs typeface="Calibri"/>
              </a:rPr>
              <a:t> </a:t>
            </a:r>
            <a:endParaRPr lang="en-IN" sz="2000" b="1" dirty="0">
              <a:solidFill>
                <a:srgbClr val="FF0000"/>
              </a:solidFill>
              <a:effectLst/>
              <a:latin typeface="Desdemona" pitchFamily="82" charset="77"/>
              <a:ea typeface="Calibri"/>
              <a:cs typeface="Calibri"/>
            </a:endParaRPr>
          </a:p>
          <a:p>
            <a:pPr algn="r"/>
            <a:r>
              <a:rPr lang="en-IN" sz="2000" b="1" dirty="0" err="1">
                <a:solidFill>
                  <a:srgbClr val="FF0000"/>
                </a:solidFill>
                <a:effectLst/>
                <a:latin typeface="Desdemona" pitchFamily="82" charset="77"/>
                <a:cs typeface="Calibri"/>
              </a:rPr>
              <a:t>Nhut</a:t>
            </a:r>
            <a:r>
              <a:rPr lang="en-IN" sz="2000" b="1" dirty="0">
                <a:solidFill>
                  <a:srgbClr val="FF0000"/>
                </a:solidFill>
                <a:effectLst/>
                <a:latin typeface="Desdemona" pitchFamily="82" charset="77"/>
                <a:cs typeface="Calibri"/>
              </a:rPr>
              <a:t> Quang Ly</a:t>
            </a:r>
            <a:endParaRPr lang="en-US" sz="2000" b="1" dirty="0">
              <a:solidFill>
                <a:srgbClr val="FF0000"/>
              </a:solidFill>
              <a:latin typeface="Desdemona" pitchFamily="82" charset="77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0442C1-2441-FFD4-D25D-7A503A2A3020}"/>
              </a:ext>
            </a:extLst>
          </p:cNvPr>
          <p:cNvSpPr txBox="1"/>
          <p:nvPr/>
        </p:nvSpPr>
        <p:spPr>
          <a:xfrm>
            <a:off x="4285397" y="191589"/>
            <a:ext cx="711490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  <a:latin typeface="Desdemona" pitchFamily="82" charset="77"/>
                <a:ea typeface="Calibri"/>
                <a:cs typeface="Calibri"/>
              </a:rPr>
              <a:t>DECODING CAR INSURANCE:</a:t>
            </a:r>
            <a:br>
              <a:rPr lang="en-IN" sz="4400" b="1" dirty="0">
                <a:solidFill>
                  <a:srgbClr val="FF0000"/>
                </a:solidFill>
                <a:latin typeface="Desdemona" pitchFamily="82" charset="77"/>
                <a:ea typeface="Calibri"/>
                <a:cs typeface="Calibri"/>
              </a:rPr>
            </a:br>
            <a:r>
              <a:rPr lang="en-IN" sz="4400" b="1" dirty="0">
                <a:solidFill>
                  <a:srgbClr val="FF0000"/>
                </a:solidFill>
                <a:latin typeface="Desdemona" pitchFamily="82" charset="77"/>
                <a:ea typeface="Calibri"/>
                <a:cs typeface="Calibri"/>
              </a:rPr>
              <a:t>EXPLORING PREDICTORS OF </a:t>
            </a:r>
            <a:br>
              <a:rPr lang="en-IN" sz="4400" b="1" dirty="0">
                <a:solidFill>
                  <a:srgbClr val="FF0000"/>
                </a:solidFill>
                <a:latin typeface="Desdemona" pitchFamily="82" charset="77"/>
                <a:ea typeface="Calibri"/>
                <a:cs typeface="Calibri"/>
              </a:rPr>
            </a:br>
            <a:r>
              <a:rPr lang="en-IN" sz="4400" b="1" dirty="0">
                <a:solidFill>
                  <a:srgbClr val="FF0000"/>
                </a:solidFill>
                <a:latin typeface="Desdemona" pitchFamily="82" charset="77"/>
                <a:ea typeface="Calibri"/>
                <a:cs typeface="Calibri"/>
              </a:rPr>
              <a:t>ANNUAL PREMIUMS 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438463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A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30877-2D7D-E53E-D4D7-CF9BC9264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09" y="2994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Aharoni"/>
                <a:ea typeface="Calibri"/>
                <a:cs typeface="Aharoni"/>
              </a:rPr>
              <a:t>Table of Contents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07A884E-21C8-81AD-0C99-43DF38CB7F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87840" y="5120301"/>
            <a:ext cx="2749458" cy="16946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80B284-D2D0-F2B0-7037-8D7E84842AC7}"/>
              </a:ext>
            </a:extLst>
          </p:cNvPr>
          <p:cNvSpPr txBox="1"/>
          <p:nvPr/>
        </p:nvSpPr>
        <p:spPr>
          <a:xfrm>
            <a:off x="1025328" y="1660783"/>
            <a:ext cx="10570443" cy="48320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fontAlgn="base">
              <a:buFont typeface="Wingdings" pitchFamily="2" charset="2"/>
              <a:buChar char="q"/>
            </a:pPr>
            <a:r>
              <a:rPr lang="en-US" sz="2800" i="0" u="none" strike="noStrike" dirty="0">
                <a:effectLst/>
                <a:ea typeface="Calibri"/>
                <a:cs typeface="Calibri"/>
              </a:rPr>
              <a:t>Introduction</a:t>
            </a:r>
            <a:r>
              <a:rPr lang="en-US" sz="2800" i="0" dirty="0">
                <a:effectLst/>
                <a:ea typeface="Calibri"/>
                <a:cs typeface="Calibri"/>
              </a:rPr>
              <a:t>​</a:t>
            </a:r>
            <a:endParaRPr lang="en-US" sz="2800" dirty="0">
              <a:ea typeface="Calibri"/>
              <a:cs typeface="Calibri"/>
            </a:endParaRPr>
          </a:p>
          <a:p>
            <a:pPr marL="457200" indent="-457200" fontAlgn="base">
              <a:buFont typeface="Wingdings" pitchFamily="2" charset="2"/>
              <a:buChar char="q"/>
            </a:pPr>
            <a:r>
              <a:rPr lang="en-US" sz="2800" dirty="0">
                <a:ea typeface="Calibri"/>
                <a:cs typeface="Calibri"/>
              </a:rPr>
              <a:t>Data Dictionary</a:t>
            </a:r>
            <a:endParaRPr lang="en-US" sz="2800" i="0" dirty="0">
              <a:effectLst/>
              <a:ea typeface="Calibri"/>
              <a:cs typeface="Calibri"/>
            </a:endParaRPr>
          </a:p>
          <a:p>
            <a:pPr marL="457200" indent="-457200" fontAlgn="base">
              <a:buFont typeface="Wingdings" pitchFamily="2" charset="2"/>
              <a:buChar char="q"/>
            </a:pPr>
            <a:r>
              <a:rPr lang="en-US" sz="2800" dirty="0">
                <a:ea typeface="Calibri"/>
                <a:cs typeface="Calibri"/>
              </a:rPr>
              <a:t>Data Collection and Processing</a:t>
            </a:r>
            <a:endParaRPr lang="en-US" sz="2800" i="0" dirty="0">
              <a:effectLst/>
              <a:ea typeface="Calibri"/>
              <a:cs typeface="Calibri"/>
            </a:endParaRPr>
          </a:p>
          <a:p>
            <a:pPr marL="457200" indent="-457200" fontAlgn="base">
              <a:buFont typeface="Wingdings" pitchFamily="2" charset="2"/>
              <a:buChar char="q"/>
            </a:pPr>
            <a:r>
              <a:rPr lang="en-US" sz="2800" dirty="0">
                <a:ea typeface="Calibri"/>
                <a:cs typeface="Calibri"/>
              </a:rPr>
              <a:t>Summary Statistics</a:t>
            </a:r>
            <a:endParaRPr lang="en-US" sz="2800" i="0" dirty="0">
              <a:effectLst/>
              <a:ea typeface="Calibri"/>
              <a:cs typeface="Calibri"/>
            </a:endParaRPr>
          </a:p>
          <a:p>
            <a:pPr marL="457200" indent="-457200" algn="l" rtl="0" fontAlgn="base">
              <a:buFont typeface="Wingdings" pitchFamily="2" charset="2"/>
              <a:buChar char="q"/>
            </a:pPr>
            <a:r>
              <a:rPr lang="en-US" sz="2800" i="0" u="none" strike="noStrike" dirty="0">
                <a:effectLst/>
                <a:ea typeface="Calibri"/>
                <a:cs typeface="Calibri"/>
              </a:rPr>
              <a:t>Data visualization</a:t>
            </a:r>
            <a:r>
              <a:rPr lang="en-US" sz="2800" i="0" dirty="0">
                <a:effectLst/>
                <a:ea typeface="Calibri"/>
                <a:cs typeface="Calibri"/>
              </a:rPr>
              <a:t>​</a:t>
            </a:r>
          </a:p>
          <a:p>
            <a:pPr marL="457200" indent="-457200" fontAlgn="base">
              <a:buFont typeface="Wingdings" pitchFamily="2" charset="2"/>
              <a:buChar char="q"/>
            </a:pPr>
            <a:r>
              <a:rPr lang="en-US" sz="2800" dirty="0">
                <a:ea typeface="Calibri"/>
                <a:cs typeface="Calibri"/>
              </a:rPr>
              <a:t>Regression Results of Models</a:t>
            </a:r>
            <a:endParaRPr lang="en-US" sz="2800" i="0" dirty="0">
              <a:effectLst/>
              <a:ea typeface="Calibri"/>
              <a:cs typeface="Calibri"/>
            </a:endParaRPr>
          </a:p>
          <a:p>
            <a:pPr marL="457200" indent="-457200" fontAlgn="base">
              <a:buFont typeface="Wingdings" pitchFamily="2" charset="2"/>
              <a:buChar char="q"/>
            </a:pPr>
            <a:r>
              <a:rPr lang="en-US" sz="2800" dirty="0">
                <a:ea typeface="Calibri"/>
                <a:cs typeface="Calibri"/>
              </a:rPr>
              <a:t>Observation of Models</a:t>
            </a:r>
            <a:endParaRPr lang="en-US" sz="2800" i="0" dirty="0">
              <a:effectLst/>
              <a:ea typeface="Calibri"/>
              <a:cs typeface="Calibri"/>
            </a:endParaRPr>
          </a:p>
          <a:p>
            <a:pPr marL="457200" indent="-457200" fontAlgn="base">
              <a:buFont typeface="Wingdings" pitchFamily="2" charset="2"/>
              <a:buChar char="q"/>
            </a:pPr>
            <a:r>
              <a:rPr lang="en-US" sz="2800" dirty="0">
                <a:ea typeface="Calibri"/>
                <a:cs typeface="Calibri"/>
              </a:rPr>
              <a:t>Insights from Analysis</a:t>
            </a:r>
            <a:r>
              <a:rPr lang="en-US" sz="2800" i="0" dirty="0">
                <a:effectLst/>
                <a:ea typeface="Calibri"/>
                <a:cs typeface="Calibri"/>
              </a:rPr>
              <a:t>​</a:t>
            </a:r>
          </a:p>
          <a:p>
            <a:pPr marL="457200" indent="-457200" fontAlgn="base">
              <a:buFont typeface="Wingdings" pitchFamily="2" charset="2"/>
              <a:buChar char="q"/>
            </a:pPr>
            <a:r>
              <a:rPr lang="en-US" sz="2800" dirty="0">
                <a:ea typeface="Calibri"/>
                <a:cs typeface="Calibri"/>
              </a:rPr>
              <a:t>Model Evaluations and Strategic Perspectives</a:t>
            </a:r>
            <a:endParaRPr lang="en-US" sz="2800" i="0" dirty="0">
              <a:effectLst/>
              <a:ea typeface="Calibri"/>
              <a:cs typeface="Calibri"/>
            </a:endParaRPr>
          </a:p>
          <a:p>
            <a:pPr algn="l" rtl="0" fontAlgn="base"/>
            <a:endParaRPr lang="en-US" sz="2800" i="0" dirty="0">
              <a:effectLst/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DE59E7-BE2E-B88C-F23B-68CF8C1E9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721"/>
            <a:ext cx="1471749" cy="15890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A9AC74-D5BA-2A67-2CE0-72EF19F7E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1500" y="29942"/>
            <a:ext cx="14605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931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A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AACD-A61F-218B-EC73-079363A3A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163" y="8709"/>
            <a:ext cx="10515600" cy="1325563"/>
          </a:xfrm>
        </p:spPr>
        <p:txBody>
          <a:bodyPr/>
          <a:lstStyle/>
          <a:p>
            <a:r>
              <a:rPr lang="en-US" b="1" dirty="0">
                <a:latin typeface="Aharoni"/>
                <a:ea typeface="+mj-lt"/>
                <a:cs typeface="+mj-lt"/>
              </a:rPr>
              <a:t>Introduction</a:t>
            </a:r>
            <a:endParaRPr lang="en-US" b="1" dirty="0">
              <a:latin typeface="Aharon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31409-549A-995F-E082-631630356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163" y="1562444"/>
            <a:ext cx="11453208" cy="37331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dirty="0">
                <a:latin typeface="Calibri Light"/>
                <a:ea typeface="+mn-lt"/>
                <a:cs typeface="+mn-lt"/>
              </a:rPr>
              <a:t>In the context of </a:t>
            </a:r>
            <a:r>
              <a:rPr lang="en-US" b="1" dirty="0">
                <a:latin typeface="Calibri Light"/>
                <a:ea typeface="+mn-lt"/>
                <a:cs typeface="+mn-lt"/>
              </a:rPr>
              <a:t>car insurance</a:t>
            </a:r>
            <a:r>
              <a:rPr lang="en-US" dirty="0">
                <a:latin typeface="Calibri Light"/>
                <a:ea typeface="+mn-lt"/>
                <a:cs typeface="+mn-lt"/>
              </a:rPr>
              <a:t>, a </a:t>
            </a:r>
            <a:r>
              <a:rPr lang="en-US" b="1" dirty="0">
                <a:latin typeface="Calibri Light"/>
                <a:ea typeface="+mn-lt"/>
                <a:cs typeface="+mn-lt"/>
              </a:rPr>
              <a:t>premium </a:t>
            </a:r>
            <a:r>
              <a:rPr lang="en-US" dirty="0">
                <a:latin typeface="Calibri Light"/>
                <a:ea typeface="+mn-lt"/>
                <a:cs typeface="+mn-lt"/>
              </a:rPr>
              <a:t>refers to the regular payment made to an insurance company for coverage over a specified period, typically six or twelve months. This payment ensures that the insurer will provide financial protection as outlined in the insurance policy, including liabilities and collision coverage.</a:t>
            </a:r>
            <a:endParaRPr lang="en-US" dirty="0">
              <a:latin typeface="Calibri Light"/>
              <a:ea typeface="Calibri" panose="020F0502020204030204"/>
              <a:cs typeface="Calibri" panose="020F0502020204030204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4000" b="1" dirty="0">
                <a:latin typeface="Calibri Light"/>
                <a:ea typeface="+mn-lt"/>
                <a:cs typeface="+mn-lt"/>
              </a:rPr>
              <a:t>What factors affect Car Insurance Premiums?</a:t>
            </a:r>
            <a:r>
              <a:rPr lang="en-US" dirty="0">
                <a:latin typeface="Calibri Light"/>
                <a:ea typeface="+mn-lt"/>
                <a:cs typeface="+mn-lt"/>
              </a:rPr>
              <a:t> Typically, they are influenced by factors including driving record, vehicle type, location, age and many more!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BC4F60-2CBF-72EF-0516-E6B0DB6C0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3074" y="4629869"/>
            <a:ext cx="3378926" cy="2228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254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A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EC9BBD4-9C33-86E6-EA23-29D9ED1B87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9794894"/>
              </p:ext>
            </p:extLst>
          </p:nvPr>
        </p:nvGraphicFramePr>
        <p:xfrm>
          <a:off x="737557" y="459775"/>
          <a:ext cx="8047562" cy="587724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78529">
                  <a:extLst>
                    <a:ext uri="{9D8B030D-6E8A-4147-A177-3AD203B41FA5}">
                      <a16:colId xmlns:a16="http://schemas.microsoft.com/office/drawing/2014/main" val="2364233975"/>
                    </a:ext>
                  </a:extLst>
                </a:gridCol>
                <a:gridCol w="1274671">
                  <a:extLst>
                    <a:ext uri="{9D8B030D-6E8A-4147-A177-3AD203B41FA5}">
                      <a16:colId xmlns:a16="http://schemas.microsoft.com/office/drawing/2014/main" val="2921896843"/>
                    </a:ext>
                  </a:extLst>
                </a:gridCol>
                <a:gridCol w="4294362">
                  <a:extLst>
                    <a:ext uri="{9D8B030D-6E8A-4147-A177-3AD203B41FA5}">
                      <a16:colId xmlns:a16="http://schemas.microsoft.com/office/drawing/2014/main" val="3030584287"/>
                    </a:ext>
                  </a:extLst>
                </a:gridCol>
              </a:tblGrid>
              <a:tr h="293408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 dirty="0">
                          <a:solidFill>
                            <a:srgbClr val="FCA51C"/>
                          </a:solidFill>
                          <a:effectLst/>
                          <a:latin typeface="Calibri"/>
                        </a:rPr>
                        <a:t>Variable</a:t>
                      </a: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 dirty="0">
                          <a:solidFill>
                            <a:srgbClr val="FCA51C"/>
                          </a:solidFill>
                          <a:effectLst/>
                          <a:latin typeface="Calibri"/>
                        </a:rPr>
                        <a:t>Data Type</a:t>
                      </a: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 dirty="0">
                          <a:solidFill>
                            <a:srgbClr val="FCA51C"/>
                          </a:solidFill>
                          <a:effectLst/>
                          <a:latin typeface="Calibri"/>
                        </a:rPr>
                        <a:t>Possible Values</a:t>
                      </a: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151930"/>
                  </a:ext>
                </a:extLst>
              </a:tr>
              <a:tr h="47271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>
                          <a:solidFill>
                            <a:srgbClr val="0D0D0D"/>
                          </a:solidFill>
                          <a:effectLst/>
                          <a:latin typeface="Calibri"/>
                        </a:rPr>
                        <a:t>id</a:t>
                      </a:r>
                      <a:endParaRPr lang="en-US" sz="2000" b="1" i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>
                          <a:solidFill>
                            <a:srgbClr val="0D0D0D"/>
                          </a:solidFill>
                          <a:effectLst/>
                          <a:latin typeface="Calibri"/>
                        </a:rPr>
                        <a:t>Numeric</a:t>
                      </a:r>
                      <a:endParaRPr lang="en-US" sz="2000" b="1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>
                          <a:solidFill>
                            <a:srgbClr val="0D0D0D"/>
                          </a:solidFill>
                          <a:effectLst/>
                          <a:latin typeface="Calibri"/>
                        </a:rPr>
                        <a:t>Unique numerical identifiers</a:t>
                      </a:r>
                      <a:endParaRPr lang="en-US" sz="2000" b="1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726523"/>
                  </a:ext>
                </a:extLst>
              </a:tr>
              <a:tr h="374909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>
                          <a:solidFill>
                            <a:srgbClr val="0D0D0D"/>
                          </a:solidFill>
                          <a:effectLst/>
                          <a:latin typeface="Calibri"/>
                        </a:rPr>
                        <a:t>Gender</a:t>
                      </a:r>
                      <a:endParaRPr lang="en-US" sz="2000" b="1" i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>
                          <a:solidFill>
                            <a:srgbClr val="0D0D0D"/>
                          </a:solidFill>
                          <a:effectLst/>
                          <a:latin typeface="Calibri"/>
                        </a:rPr>
                        <a:t>Factor</a:t>
                      </a:r>
                      <a:endParaRPr lang="en-US" sz="2000" b="1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>
                          <a:solidFill>
                            <a:srgbClr val="0D0D0D"/>
                          </a:solidFill>
                          <a:effectLst/>
                          <a:latin typeface="Calibri"/>
                        </a:rPr>
                        <a:t>Male, Female</a:t>
                      </a:r>
                      <a:endParaRPr lang="en-US" sz="2000" b="1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5294154"/>
                  </a:ext>
                </a:extLst>
              </a:tr>
              <a:tr h="309707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>
                          <a:solidFill>
                            <a:srgbClr val="0D0D0D"/>
                          </a:solidFill>
                          <a:effectLst/>
                          <a:latin typeface="Calibri"/>
                        </a:rPr>
                        <a:t>Age</a:t>
                      </a:r>
                      <a:endParaRPr lang="en-US" sz="2000" b="1" i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>
                          <a:solidFill>
                            <a:srgbClr val="0D0D0D"/>
                          </a:solidFill>
                          <a:effectLst/>
                          <a:latin typeface="Calibri"/>
                        </a:rPr>
                        <a:t>Numeric</a:t>
                      </a:r>
                      <a:endParaRPr lang="en-US" sz="2000" b="1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>
                          <a:solidFill>
                            <a:srgbClr val="0D0D0D"/>
                          </a:solidFill>
                          <a:effectLst/>
                          <a:latin typeface="Calibri"/>
                        </a:rPr>
                        <a:t>Integer values representing age</a:t>
                      </a:r>
                      <a:endParaRPr lang="en-US" sz="2000" b="1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408340"/>
                  </a:ext>
                </a:extLst>
              </a:tr>
              <a:tr h="50531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 dirty="0">
                          <a:solidFill>
                            <a:srgbClr val="0D0D0D"/>
                          </a:solidFill>
                          <a:effectLst/>
                          <a:latin typeface="Calibri"/>
                        </a:rPr>
                        <a:t>Driving License</a:t>
                      </a:r>
                      <a:endParaRPr lang="en-US" sz="2000" b="1" i="0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>
                          <a:solidFill>
                            <a:srgbClr val="0D0D0D"/>
                          </a:solidFill>
                          <a:effectLst/>
                          <a:latin typeface="Calibri"/>
                        </a:rPr>
                        <a:t>Numeric</a:t>
                      </a:r>
                      <a:endParaRPr lang="en-US" sz="2000" b="1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>
                          <a:solidFill>
                            <a:srgbClr val="0D0D0D"/>
                          </a:solidFill>
                          <a:effectLst/>
                          <a:latin typeface="Calibri"/>
                        </a:rPr>
                        <a:t>0 (No), 1 (Yes)</a:t>
                      </a:r>
                      <a:endParaRPr lang="en-US" sz="2000" b="1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114843"/>
                  </a:ext>
                </a:extLst>
              </a:tr>
              <a:tr h="50531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>
                          <a:solidFill>
                            <a:srgbClr val="0D0D0D"/>
                          </a:solidFill>
                          <a:effectLst/>
                          <a:latin typeface="Calibri"/>
                        </a:rPr>
                        <a:t>Region Code</a:t>
                      </a:r>
                      <a:endParaRPr lang="en-US" sz="2000" b="1" i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>
                          <a:solidFill>
                            <a:srgbClr val="0D0D0D"/>
                          </a:solidFill>
                          <a:effectLst/>
                          <a:latin typeface="Calibri"/>
                        </a:rPr>
                        <a:t>Numeric</a:t>
                      </a:r>
                      <a:endParaRPr lang="en-US" sz="2000" b="1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>
                          <a:solidFill>
                            <a:srgbClr val="0D0D0D"/>
                          </a:solidFill>
                          <a:effectLst/>
                          <a:latin typeface="Calibri"/>
                        </a:rPr>
                        <a:t>Integer codes for different regions</a:t>
                      </a:r>
                      <a:endParaRPr lang="en-US" sz="2000" b="1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630344"/>
                  </a:ext>
                </a:extLst>
              </a:tr>
              <a:tr h="50531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>
                          <a:solidFill>
                            <a:srgbClr val="0D0D0D"/>
                          </a:solidFill>
                          <a:effectLst/>
                          <a:latin typeface="Calibri"/>
                        </a:rPr>
                        <a:t>Previously Insured</a:t>
                      </a:r>
                      <a:endParaRPr lang="en-US" sz="2000" b="1" i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>
                          <a:solidFill>
                            <a:srgbClr val="0D0D0D"/>
                          </a:solidFill>
                          <a:effectLst/>
                          <a:latin typeface="Calibri"/>
                        </a:rPr>
                        <a:t>Numeric</a:t>
                      </a:r>
                      <a:endParaRPr lang="en-US" sz="2000" b="1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>
                          <a:solidFill>
                            <a:srgbClr val="0D0D0D"/>
                          </a:solidFill>
                          <a:effectLst/>
                          <a:latin typeface="Calibri"/>
                        </a:rPr>
                        <a:t>0 (No), 1 (Yes)</a:t>
                      </a:r>
                      <a:endParaRPr lang="en-US" sz="2000" b="1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486156"/>
                  </a:ext>
                </a:extLst>
              </a:tr>
              <a:tr h="293408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>
                          <a:solidFill>
                            <a:srgbClr val="0D0D0D"/>
                          </a:solidFill>
                          <a:effectLst/>
                          <a:latin typeface="Calibri"/>
                        </a:rPr>
                        <a:t>Vehicle Age</a:t>
                      </a:r>
                      <a:endParaRPr lang="en-US" sz="2000" b="1" i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>
                          <a:solidFill>
                            <a:srgbClr val="0D0D0D"/>
                          </a:solidFill>
                          <a:effectLst/>
                          <a:latin typeface="Calibri"/>
                        </a:rPr>
                        <a:t>Factor</a:t>
                      </a:r>
                      <a:endParaRPr lang="en-US" sz="2000" b="1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>
                          <a:solidFill>
                            <a:srgbClr val="0D0D0D"/>
                          </a:solidFill>
                          <a:effectLst/>
                          <a:latin typeface="Calibri"/>
                        </a:rPr>
                        <a:t>&lt; 1 Year, 1-2 Year, &gt; 2 Years</a:t>
                      </a:r>
                      <a:endParaRPr lang="en-US" sz="2000" b="1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679521"/>
                  </a:ext>
                </a:extLst>
              </a:tr>
              <a:tr h="50531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>
                          <a:solidFill>
                            <a:srgbClr val="0D0D0D"/>
                          </a:solidFill>
                          <a:effectLst/>
                          <a:latin typeface="Calibri"/>
                        </a:rPr>
                        <a:t>Vehicle Damage</a:t>
                      </a:r>
                      <a:endParaRPr lang="en-US" sz="2000" b="1" i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>
                          <a:solidFill>
                            <a:srgbClr val="0D0D0D"/>
                          </a:solidFill>
                          <a:effectLst/>
                          <a:latin typeface="Calibri"/>
                        </a:rPr>
                        <a:t>Factor</a:t>
                      </a:r>
                      <a:endParaRPr lang="en-US" sz="2000" b="1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>
                          <a:solidFill>
                            <a:srgbClr val="0D0D0D"/>
                          </a:solidFill>
                          <a:effectLst/>
                          <a:latin typeface="Calibri"/>
                        </a:rPr>
                        <a:t>No, Yes</a:t>
                      </a:r>
                      <a:endParaRPr lang="en-US" sz="2000" b="1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757125"/>
                  </a:ext>
                </a:extLst>
              </a:tr>
              <a:tr h="293408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Annual Premium</a:t>
                      </a: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Numeric</a:t>
                      </a: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Continuous numerical values</a:t>
                      </a: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8974243"/>
                  </a:ext>
                </a:extLst>
              </a:tr>
              <a:tr h="50531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>
                          <a:solidFill>
                            <a:srgbClr val="0D0D0D"/>
                          </a:solidFill>
                          <a:effectLst/>
                          <a:latin typeface="Calibri"/>
                        </a:rPr>
                        <a:t>Policy Sales Channel</a:t>
                      </a:r>
                      <a:endParaRPr lang="en-US" sz="2000" b="1" i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>
                          <a:solidFill>
                            <a:srgbClr val="0D0D0D"/>
                          </a:solidFill>
                          <a:effectLst/>
                          <a:latin typeface="Calibri"/>
                        </a:rPr>
                        <a:t>Numeric</a:t>
                      </a:r>
                      <a:endParaRPr lang="en-US" sz="2000" b="1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 dirty="0">
                          <a:solidFill>
                            <a:srgbClr val="0D0D0D"/>
                          </a:solidFill>
                          <a:effectLst/>
                          <a:latin typeface="Calibri"/>
                        </a:rPr>
                        <a:t>Integer codes for different sales channels</a:t>
                      </a:r>
                      <a:endParaRPr lang="en-US" sz="2000" b="1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3231064"/>
                  </a:ext>
                </a:extLst>
              </a:tr>
              <a:tr h="50531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>
                          <a:solidFill>
                            <a:srgbClr val="0D0D0D"/>
                          </a:solidFill>
                          <a:effectLst/>
                          <a:latin typeface="Calibri"/>
                        </a:rPr>
                        <a:t>Vintage</a:t>
                      </a:r>
                      <a:endParaRPr lang="en-US" sz="2000" b="1" i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>
                          <a:solidFill>
                            <a:srgbClr val="0D0D0D"/>
                          </a:solidFill>
                          <a:effectLst/>
                          <a:latin typeface="Calibri"/>
                        </a:rPr>
                        <a:t>Numeric</a:t>
                      </a:r>
                      <a:endParaRPr lang="en-US" sz="2000" b="1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 dirty="0">
                          <a:solidFill>
                            <a:srgbClr val="0D0D0D"/>
                          </a:solidFill>
                          <a:effectLst/>
                          <a:latin typeface="Calibri"/>
                        </a:rPr>
                        <a:t>Integer values representing the number of days associated</a:t>
                      </a:r>
                      <a:endParaRPr lang="en-US" sz="2000" b="1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313885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DB28A97-E4CB-5B01-0EBA-2CCD17F01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7295" y="5842958"/>
            <a:ext cx="4327196" cy="91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1EAED9-1D67-AE5B-D656-F9BF195EED99}"/>
              </a:ext>
            </a:extLst>
          </p:cNvPr>
          <p:cNvSpPr txBox="1"/>
          <p:nvPr/>
        </p:nvSpPr>
        <p:spPr>
          <a:xfrm>
            <a:off x="8690659" y="459775"/>
            <a:ext cx="3424176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dirty="0">
                <a:latin typeface="Aharoni"/>
                <a:ea typeface="Calibri"/>
                <a:cs typeface="Calibri"/>
              </a:rPr>
              <a:t>Data</a:t>
            </a:r>
            <a:endParaRPr lang="en-US" dirty="0"/>
          </a:p>
          <a:p>
            <a:pPr algn="ctr"/>
            <a:r>
              <a:rPr lang="en-US" sz="4400" dirty="0">
                <a:latin typeface="Aharoni"/>
                <a:ea typeface="Calibri"/>
                <a:cs typeface="Calibri"/>
              </a:rPr>
              <a:t>Dictionary</a:t>
            </a:r>
          </a:p>
          <a:p>
            <a:pPr algn="r"/>
            <a:endParaRPr lang="en-US" sz="2400" dirty="0">
              <a:ea typeface="Calibri"/>
              <a:cs typeface="Calibri"/>
            </a:endParaRPr>
          </a:p>
        </p:txBody>
      </p:sp>
      <p:pic>
        <p:nvPicPr>
          <p:cNvPr id="7" name="Graphic 6" descr="Arrow: Slight curve with solid fill">
            <a:extLst>
              <a:ext uri="{FF2B5EF4-FFF2-40B4-BE49-F238E27FC236}">
                <a16:creationId xmlns:a16="http://schemas.microsoft.com/office/drawing/2014/main" id="{AA46FA92-D36B-07D2-A0FF-3490117855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9980073" y="181845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623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A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411D245-5801-A65C-2E81-40C5F0928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020000">
            <a:off x="188088" y="5016110"/>
            <a:ext cx="2362336" cy="206291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DAFA0B-8E3C-1201-6410-FF458BEF7097}"/>
              </a:ext>
            </a:extLst>
          </p:cNvPr>
          <p:cNvSpPr>
            <a:spLocks noGrp="1"/>
          </p:cNvSpPr>
          <p:nvPr/>
        </p:nvSpPr>
        <p:spPr>
          <a:xfrm>
            <a:off x="559526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haroni"/>
                <a:ea typeface="+mj-lt"/>
                <a:cs typeface="+mj-lt"/>
              </a:rPr>
              <a:t>Data Collection and Processing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A03AB49-5D57-D56C-FAFE-9163B87ED555}"/>
              </a:ext>
            </a:extLst>
          </p:cNvPr>
          <p:cNvSpPr>
            <a:spLocks noGrp="1"/>
          </p:cNvSpPr>
          <p:nvPr/>
        </p:nvSpPr>
        <p:spPr>
          <a:xfrm>
            <a:off x="559526" y="1696229"/>
            <a:ext cx="11632474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,Sans-Serif" panose="020B0604020202020204" pitchFamily="34" charset="0"/>
              <a:buChar char="Ø"/>
            </a:pPr>
            <a:r>
              <a:rPr lang="en-US" b="1" dirty="0">
                <a:latin typeface="Calibri"/>
                <a:ea typeface="+mn-lt"/>
                <a:cs typeface="Arial"/>
              </a:rPr>
              <a:t>Collected data and cleaned it</a:t>
            </a:r>
            <a:r>
              <a:rPr lang="en-US" dirty="0">
                <a:latin typeface="Calibri"/>
                <a:ea typeface="+mn-lt"/>
                <a:cs typeface="Arial"/>
              </a:rPr>
              <a:t> to ensure accuracy and consistency.</a:t>
            </a:r>
          </a:p>
          <a:p>
            <a:pPr>
              <a:buFont typeface="Wingdings,Sans-Serif" panose="020B0604020202020204" pitchFamily="34" charset="0"/>
              <a:buChar char="Ø"/>
            </a:pPr>
            <a:r>
              <a:rPr lang="en-US" b="1" dirty="0">
                <a:latin typeface="Calibri"/>
                <a:ea typeface="+mn-lt"/>
                <a:cs typeface="Arial"/>
              </a:rPr>
              <a:t>Checked  for any double values or missing values</a:t>
            </a:r>
            <a:r>
              <a:rPr lang="en-US" dirty="0">
                <a:latin typeface="Calibri"/>
                <a:ea typeface="+mn-lt"/>
                <a:cs typeface="Arial"/>
              </a:rPr>
              <a:t> which may skew our results.</a:t>
            </a:r>
          </a:p>
          <a:p>
            <a:pPr>
              <a:buFont typeface="Wingdings,Sans-Serif" panose="020B0604020202020204" pitchFamily="34" charset="0"/>
              <a:buChar char="Ø"/>
            </a:pPr>
            <a:r>
              <a:rPr lang="en-US" b="1" dirty="0">
                <a:latin typeface="Calibri"/>
                <a:ea typeface="+mn-lt"/>
                <a:cs typeface="Arial"/>
              </a:rPr>
              <a:t>Utilized Data Visualization in R</a:t>
            </a:r>
            <a:r>
              <a:rPr lang="en-US" dirty="0">
                <a:latin typeface="Calibri"/>
                <a:ea typeface="+mn-lt"/>
                <a:cs typeface="Arial"/>
              </a:rPr>
              <a:t> to identify outliers, uncover patterns, and visualize trends, enhancing data comprehension.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>
              <a:buFont typeface="Wingdings,Sans-Serif" panose="020B0604020202020204" pitchFamily="34" charset="0"/>
              <a:buChar char="Ø"/>
            </a:pPr>
            <a:r>
              <a:rPr lang="en-US" b="1" dirty="0">
                <a:latin typeface="Calibri"/>
                <a:ea typeface="+mn-lt"/>
                <a:cs typeface="+mn-lt"/>
              </a:rPr>
              <a:t> Converted certain variables</a:t>
            </a:r>
            <a:r>
              <a:rPr lang="en-US" dirty="0">
                <a:latin typeface="Calibri"/>
                <a:ea typeface="+mn-lt"/>
                <a:cs typeface="+mn-lt"/>
              </a:rPr>
              <a:t> such as 'Region Code' and 'Policy Sales' into factors to facilitate more effective analysis of the models.</a:t>
            </a:r>
          </a:p>
          <a:p>
            <a:endParaRPr lang="en-US" dirty="0">
              <a:ea typeface="Calibri" panose="020F0502020204030204"/>
              <a:cs typeface="Calibri"/>
            </a:endParaRPr>
          </a:p>
          <a:p>
            <a:endParaRPr lang="en-US" dirty="0">
              <a:ea typeface="Calibri" panose="020F0502020204030204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6342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A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82FCDF6-5634-C9C1-2548-DB9C6EB8EC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8987509"/>
              </p:ext>
            </p:extLst>
          </p:nvPr>
        </p:nvGraphicFramePr>
        <p:xfrm>
          <a:off x="838200" y="1825625"/>
          <a:ext cx="10515597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74258">
                  <a:extLst>
                    <a:ext uri="{9D8B030D-6E8A-4147-A177-3AD203B41FA5}">
                      <a16:colId xmlns:a16="http://schemas.microsoft.com/office/drawing/2014/main" val="3693452926"/>
                    </a:ext>
                  </a:extLst>
                </a:gridCol>
                <a:gridCol w="1789079">
                  <a:extLst>
                    <a:ext uri="{9D8B030D-6E8A-4147-A177-3AD203B41FA5}">
                      <a16:colId xmlns:a16="http://schemas.microsoft.com/office/drawing/2014/main" val="297413831"/>
                    </a:ext>
                  </a:extLst>
                </a:gridCol>
                <a:gridCol w="1770046">
                  <a:extLst>
                    <a:ext uri="{9D8B030D-6E8A-4147-A177-3AD203B41FA5}">
                      <a16:colId xmlns:a16="http://schemas.microsoft.com/office/drawing/2014/main" val="140076849"/>
                    </a:ext>
                  </a:extLst>
                </a:gridCol>
                <a:gridCol w="1494071">
                  <a:extLst>
                    <a:ext uri="{9D8B030D-6E8A-4147-A177-3AD203B41FA5}">
                      <a16:colId xmlns:a16="http://schemas.microsoft.com/office/drawing/2014/main" val="2216064877"/>
                    </a:ext>
                  </a:extLst>
                </a:gridCol>
                <a:gridCol w="1484555">
                  <a:extLst>
                    <a:ext uri="{9D8B030D-6E8A-4147-A177-3AD203B41FA5}">
                      <a16:colId xmlns:a16="http://schemas.microsoft.com/office/drawing/2014/main" val="2900661221"/>
                    </a:ext>
                  </a:extLst>
                </a:gridCol>
                <a:gridCol w="1503588">
                  <a:extLst>
                    <a:ext uri="{9D8B030D-6E8A-4147-A177-3AD203B41FA5}">
                      <a16:colId xmlns:a16="http://schemas.microsoft.com/office/drawing/2014/main" val="179170550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4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Variable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Min</a:t>
                      </a:r>
                      <a:endParaRPr lang="en-IN" b="1" i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Median</a:t>
                      </a:r>
                      <a:endParaRPr lang="en-IN" b="1" i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Mean</a:t>
                      </a:r>
                      <a:endParaRPr lang="en-IN" b="1" i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Max</a:t>
                      </a:r>
                      <a:endParaRPr lang="en-IN" b="1" i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Count</a:t>
                      </a:r>
                      <a:endParaRPr lang="en-IN" b="1" i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349528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400" b="1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Age</a:t>
                      </a:r>
                      <a:endParaRPr lang="en-IN" b="1" i="0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</a:t>
                      </a:r>
                      <a:endParaRPr lang="en-IN" b="1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</a:t>
                      </a:r>
                      <a:endParaRPr lang="en-IN" b="1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38.77</a:t>
                      </a:r>
                      <a:endParaRPr lang="en-IN" b="1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</a:t>
                      </a:r>
                      <a:endParaRPr lang="en-IN" b="1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127037</a:t>
                      </a:r>
                      <a:endParaRPr lang="en-IN" b="1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027022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400" b="1" i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Annual_premium</a:t>
                      </a:r>
                      <a:endParaRPr lang="en-IN" b="1" i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2.630</a:t>
                      </a:r>
                      <a:endParaRPr lang="en-IN" b="1" i="0">
                        <a:solidFill>
                          <a:srgbClr val="C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31.462</a:t>
                      </a:r>
                      <a:endParaRPr lang="en-IN" b="1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1" i="0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30.525</a:t>
                      </a:r>
                      <a:endParaRPr lang="en-US" b="1" i="0">
                        <a:solidFill>
                          <a:srgbClr val="C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1" i="0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472.042</a:t>
                      </a:r>
                      <a:endParaRPr lang="en-US" b="1" i="0">
                        <a:solidFill>
                          <a:srgbClr val="C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127037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654018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4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Vintage</a:t>
                      </a:r>
                      <a:endParaRPr lang="en-IN" b="1" i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  <a:endParaRPr lang="en-IN" b="1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124</a:t>
                      </a:r>
                      <a:endParaRPr lang="en-IN" b="1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160</a:t>
                      </a:r>
                      <a:endParaRPr lang="en-IN" b="1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299</a:t>
                      </a:r>
                      <a:endParaRPr lang="en-IN" b="1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127037</a:t>
                      </a:r>
                      <a:endParaRPr lang="en-IN" b="1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732883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BE30CBE-399F-BD94-7FE3-1CDAB6ABC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845219"/>
            <a:ext cx="2776251" cy="201278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3EB993C-DE3E-12D5-21E5-1B0402806D11}"/>
              </a:ext>
            </a:extLst>
          </p:cNvPr>
          <p:cNvSpPr>
            <a:spLocks noGrp="1"/>
          </p:cNvSpPr>
          <p:nvPr/>
        </p:nvSpPr>
        <p:spPr>
          <a:xfrm>
            <a:off x="83820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Aharoni"/>
                <a:ea typeface="Calibri Light"/>
                <a:cs typeface="Calibri Light"/>
              </a:rPr>
              <a:t>Summary Statistics </a:t>
            </a:r>
            <a:r>
              <a:rPr lang="en-US" sz="1200" dirty="0">
                <a:solidFill>
                  <a:srgbClr val="1F1F1F"/>
                </a:solidFill>
                <a:latin typeface="Aharoni"/>
                <a:ea typeface="+mj-lt"/>
                <a:cs typeface="+mj-lt"/>
              </a:rPr>
              <a:t> </a:t>
            </a:r>
            <a:endParaRPr lang="en-US" sz="1200" dirty="0">
              <a:solidFill>
                <a:srgbClr val="1F1F1F"/>
              </a:solidFill>
              <a:latin typeface="Aharoni"/>
              <a:ea typeface="Calibri Light"/>
              <a:cs typeface="Calibr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4CC92B-654F-A085-584C-50670DA3C30B}"/>
              </a:ext>
            </a:extLst>
          </p:cNvPr>
          <p:cNvSpPr txBox="1"/>
          <p:nvPr/>
        </p:nvSpPr>
        <p:spPr>
          <a:xfrm>
            <a:off x="2793411" y="4628159"/>
            <a:ext cx="8560386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buFont typeface="Wingdings" pitchFamily="2" charset="2"/>
              <a:buChar char="ü"/>
            </a:pPr>
            <a:r>
              <a:rPr lang="en-US" sz="2800" dirty="0">
                <a:solidFill>
                  <a:srgbClr val="C00000"/>
                </a:solidFill>
                <a:latin typeface="Segoe UI"/>
                <a:ea typeface="+mn-lt"/>
                <a:cs typeface="+mn-lt"/>
              </a:rPr>
              <a:t>Substantial disparity </a:t>
            </a:r>
            <a:r>
              <a:rPr lang="en-US" sz="2800" b="1" dirty="0">
                <a:solidFill>
                  <a:srgbClr val="C00000"/>
                </a:solidFill>
                <a:latin typeface="Segoe UI"/>
                <a:ea typeface="+mn-lt"/>
                <a:cs typeface="+mn-lt"/>
              </a:rPr>
              <a:t>between the minimum and maximum </a:t>
            </a:r>
            <a:r>
              <a:rPr lang="en-US" sz="2800" dirty="0">
                <a:solidFill>
                  <a:srgbClr val="C00000"/>
                </a:solidFill>
                <a:latin typeface="Segoe UI"/>
                <a:ea typeface="+mn-lt"/>
                <a:cs typeface="+mn-lt"/>
              </a:rPr>
              <a:t>values, indicating a heightened probability of </a:t>
            </a:r>
            <a:r>
              <a:rPr lang="en-US" sz="2800" b="1" dirty="0">
                <a:solidFill>
                  <a:srgbClr val="C00000"/>
                </a:solidFill>
                <a:latin typeface="Segoe UI"/>
                <a:ea typeface="+mn-lt"/>
                <a:cs typeface="+mn-lt"/>
              </a:rPr>
              <a:t>outliers</a:t>
            </a:r>
            <a:r>
              <a:rPr lang="en-US" sz="2800" dirty="0">
                <a:solidFill>
                  <a:srgbClr val="C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US" sz="2800" b="1" dirty="0">
                <a:solidFill>
                  <a:srgbClr val="C00000"/>
                </a:solidFill>
                <a:latin typeface="Segoe UI"/>
                <a:ea typeface="+mn-lt"/>
                <a:cs typeface="+mn-lt"/>
              </a:rPr>
              <a:t>or data inaccuracies.</a:t>
            </a:r>
            <a:endParaRPr lang="en-US" sz="2800" b="1" dirty="0">
              <a:solidFill>
                <a:srgbClr val="C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41747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A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8265CFA-4AB3-DDCD-F119-2C1D0362E6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172" y="4540683"/>
            <a:ext cx="2604112" cy="22276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1A05B3-4933-DF82-5406-953F4128D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7414" y="5596570"/>
            <a:ext cx="1699133" cy="896306"/>
          </a:xfrm>
          <a:prstGeom prst="rect">
            <a:avLst/>
          </a:prstGeom>
        </p:spPr>
      </p:pic>
      <p:pic>
        <p:nvPicPr>
          <p:cNvPr id="8" name="Picture 7" descr="A cartoon of a car with a shield&#10;&#10;Description automatically generated">
            <a:extLst>
              <a:ext uri="{FF2B5EF4-FFF2-40B4-BE49-F238E27FC236}">
                <a16:creationId xmlns:a16="http://schemas.microsoft.com/office/drawing/2014/main" id="{5957ACE9-B3AE-B6A1-E20C-3F03B55246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5923" y="5839396"/>
            <a:ext cx="643347" cy="653479"/>
          </a:xfrm>
          <a:prstGeom prst="rect">
            <a:avLst/>
          </a:prstGeom>
        </p:spPr>
      </p:pic>
      <p:pic>
        <p:nvPicPr>
          <p:cNvPr id="10" name="Picture 9" descr="A close up of a paper&#10;&#10;Description automatically generated">
            <a:extLst>
              <a:ext uri="{FF2B5EF4-FFF2-40B4-BE49-F238E27FC236}">
                <a16:creationId xmlns:a16="http://schemas.microsoft.com/office/drawing/2014/main" id="{3092F911-0420-815B-D8F9-6882ECE602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151" y="6192109"/>
            <a:ext cx="668516" cy="4807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50B433-71BF-7E34-82D5-CEFA857005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4760" y="5519578"/>
            <a:ext cx="612760" cy="91288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94916B8-14B2-691F-F539-9AF5CA9EB0C6}"/>
              </a:ext>
            </a:extLst>
          </p:cNvPr>
          <p:cNvSpPr>
            <a:spLocks noGrp="1"/>
          </p:cNvSpPr>
          <p:nvPr/>
        </p:nvSpPr>
        <p:spPr>
          <a:xfrm>
            <a:off x="-62695" y="1392068"/>
            <a:ext cx="4072181" cy="37979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itchFamily="2" charset="2"/>
              <a:buChar char="v"/>
            </a:pPr>
            <a:r>
              <a:rPr lang="en-US" sz="2800" dirty="0">
                <a:solidFill>
                  <a:srgbClr val="C00000"/>
                </a:solidFill>
                <a:latin typeface="+mn-lt"/>
                <a:ea typeface="+mj-lt"/>
                <a:cs typeface="+mj-lt"/>
              </a:rPr>
              <a:t>Whiskers extend 1.5 times the IQR from quartiles, covering middle 50% of data. </a:t>
            </a:r>
            <a:r>
              <a:rPr lang="en-US" sz="2800" b="1" dirty="0">
                <a:solidFill>
                  <a:srgbClr val="C00000"/>
                </a:solidFill>
                <a:latin typeface="+mn-lt"/>
                <a:ea typeface="+mj-lt"/>
                <a:cs typeface="+mj-lt"/>
              </a:rPr>
              <a:t>Outliers beyond this range were removed</a:t>
            </a:r>
            <a:r>
              <a:rPr lang="en-US" sz="2800" dirty="0">
                <a:solidFill>
                  <a:srgbClr val="C00000"/>
                </a:solidFill>
                <a:latin typeface="+mn-lt"/>
                <a:ea typeface="+mj-lt"/>
                <a:cs typeface="+mj-lt"/>
              </a:rPr>
              <a:t> for robust analysis.</a:t>
            </a:r>
            <a:endParaRPr lang="en-US" dirty="0">
              <a:solidFill>
                <a:srgbClr val="C00000"/>
              </a:solidFill>
              <a:latin typeface="+mn-lt"/>
              <a:ea typeface="Calibri"/>
              <a:cs typeface="Calibri"/>
            </a:endParaRPr>
          </a:p>
          <a:p>
            <a:endParaRPr lang="en-US" sz="2000" dirty="0">
              <a:latin typeface="Calibri"/>
              <a:ea typeface="Calibri Light"/>
              <a:cs typeface="Calibri Ligh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01B47B-4FBA-FCF1-5158-8922715074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9486" y="1825205"/>
            <a:ext cx="4014876" cy="47747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5B766FA-4E4C-FB37-D7DC-E6DBE88B55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4504" y="1825205"/>
            <a:ext cx="4014876" cy="47747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CE12AC-EADE-5990-C073-1A884DBBE88B}"/>
              </a:ext>
            </a:extLst>
          </p:cNvPr>
          <p:cNvSpPr txBox="1"/>
          <p:nvPr/>
        </p:nvSpPr>
        <p:spPr>
          <a:xfrm>
            <a:off x="4977114" y="0"/>
            <a:ext cx="7214886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sz="4400" dirty="0">
                <a:latin typeface="Aharoni"/>
                <a:ea typeface="+mn-lt"/>
                <a:cs typeface="+mn-lt"/>
              </a:rPr>
              <a:t>Removal of Outliers</a:t>
            </a:r>
            <a:endParaRPr lang="en-US" sz="4400" dirty="0">
              <a:latin typeface="Aharoni"/>
              <a:ea typeface="Calibri"/>
              <a:cs typeface="Calibri"/>
            </a:endParaRPr>
          </a:p>
        </p:txBody>
      </p:sp>
      <p:pic>
        <p:nvPicPr>
          <p:cNvPr id="14" name="Graphic 13" descr="Arrow: Slight curve with solid fill">
            <a:extLst>
              <a:ext uri="{FF2B5EF4-FFF2-40B4-BE49-F238E27FC236}">
                <a16:creationId xmlns:a16="http://schemas.microsoft.com/office/drawing/2014/main" id="{089665A3-79B1-AFFE-DF86-47C8CA11C3C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9026432" y="669854"/>
            <a:ext cx="914400" cy="9144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1520B8D-3545-4B9B-90FE-0C9EE6844FDC}"/>
              </a:ext>
            </a:extLst>
          </p:cNvPr>
          <p:cNvSpPr>
            <a:spLocks noGrp="1"/>
          </p:cNvSpPr>
          <p:nvPr/>
        </p:nvSpPr>
        <p:spPr>
          <a:xfrm>
            <a:off x="5515482" y="1793397"/>
            <a:ext cx="1200525" cy="6219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latin typeface="Calibri Light"/>
                <a:ea typeface="+mj-lt"/>
                <a:cs typeface="+mj-lt"/>
              </a:rPr>
              <a:t>Before</a:t>
            </a:r>
            <a:endParaRPr lang="en-US" b="1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E6978F0-B6A1-998A-4646-0A0A4EF62908}"/>
              </a:ext>
            </a:extLst>
          </p:cNvPr>
          <p:cNvSpPr>
            <a:spLocks noGrp="1"/>
          </p:cNvSpPr>
          <p:nvPr/>
        </p:nvSpPr>
        <p:spPr>
          <a:xfrm>
            <a:off x="9483632" y="1793396"/>
            <a:ext cx="1200525" cy="6219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latin typeface="Calibri Light"/>
                <a:ea typeface="+mj-lt"/>
                <a:cs typeface="+mj-lt"/>
              </a:rPr>
              <a:t>After</a:t>
            </a:r>
            <a:endParaRPr lang="en-US" sz="2800" b="1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901838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A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FDF0B0-8E0D-04F4-0869-EB8097CCF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5219" y="4963496"/>
            <a:ext cx="3666781" cy="1894504"/>
          </a:xfrm>
          <a:prstGeom prst="rect">
            <a:avLst/>
          </a:prstGeom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55C80B-215C-A2E9-E571-14772349BC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9084647"/>
              </p:ext>
            </p:extLst>
          </p:nvPr>
        </p:nvGraphicFramePr>
        <p:xfrm>
          <a:off x="7105434" y="3165295"/>
          <a:ext cx="4971503" cy="149310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30909">
                  <a:extLst>
                    <a:ext uri="{9D8B030D-6E8A-4147-A177-3AD203B41FA5}">
                      <a16:colId xmlns:a16="http://schemas.microsoft.com/office/drawing/2014/main" val="3127974455"/>
                    </a:ext>
                  </a:extLst>
                </a:gridCol>
                <a:gridCol w="1216755">
                  <a:extLst>
                    <a:ext uri="{9D8B030D-6E8A-4147-A177-3AD203B41FA5}">
                      <a16:colId xmlns:a16="http://schemas.microsoft.com/office/drawing/2014/main" val="1849874027"/>
                    </a:ext>
                  </a:extLst>
                </a:gridCol>
                <a:gridCol w="1523839">
                  <a:extLst>
                    <a:ext uri="{9D8B030D-6E8A-4147-A177-3AD203B41FA5}">
                      <a16:colId xmlns:a16="http://schemas.microsoft.com/office/drawing/2014/main" val="1235769636"/>
                    </a:ext>
                  </a:extLst>
                </a:gridCol>
              </a:tblGrid>
              <a:tr h="746551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Driving License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0 (No)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1 (Yes)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0170"/>
                  </a:ext>
                </a:extLst>
              </a:tr>
              <a:tr h="746551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1">
                          <a:effectLst/>
                          <a:latin typeface="Calibri"/>
                        </a:rPr>
                        <a:t>Count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237</a:t>
                      </a:r>
                      <a:endParaRPr lang="en-US" sz="2000" dirty="0">
                        <a:effectLst/>
                        <a:latin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1" dirty="0">
                          <a:effectLst/>
                          <a:latin typeface="Calibri"/>
                        </a:rPr>
                        <a:t> 126.800</a:t>
                      </a:r>
                      <a:endParaRPr lang="en-US" sz="2000" dirty="0">
                        <a:effectLst/>
                        <a:latin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195629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A352AA6C-4527-9A2A-9DD6-251456D4FF2C}"/>
              </a:ext>
            </a:extLst>
          </p:cNvPr>
          <p:cNvSpPr>
            <a:spLocks noGrp="1"/>
          </p:cNvSpPr>
          <p:nvPr/>
        </p:nvSpPr>
        <p:spPr>
          <a:xfrm>
            <a:off x="121518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Aharoni"/>
                <a:ea typeface="Calibri Light"/>
                <a:cs typeface="Calibri Light"/>
              </a:rPr>
              <a:t>Distribution of Driving License</a:t>
            </a:r>
          </a:p>
        </p:txBody>
      </p:sp>
      <p:pic>
        <p:nvPicPr>
          <p:cNvPr id="7" name="Picture 6" descr="A graph of a distribution of driving license&#10;&#10;Description automatically generated">
            <a:extLst>
              <a:ext uri="{FF2B5EF4-FFF2-40B4-BE49-F238E27FC236}">
                <a16:creationId xmlns:a16="http://schemas.microsoft.com/office/drawing/2014/main" id="{8D7AC179-732C-C5CD-AA83-FC1A89E6A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18" y="1106518"/>
            <a:ext cx="6457720" cy="56106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AF0F82-3470-3B94-5EB8-EBD58D530445}"/>
              </a:ext>
            </a:extLst>
          </p:cNvPr>
          <p:cNvSpPr txBox="1"/>
          <p:nvPr/>
        </p:nvSpPr>
        <p:spPr>
          <a:xfrm>
            <a:off x="6894579" y="246627"/>
            <a:ext cx="5393215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800" dirty="0">
              <a:latin typeface="Calibri"/>
              <a:ea typeface="Calibri Light"/>
              <a:cs typeface="Calibri"/>
            </a:endParaRPr>
          </a:p>
          <a:p>
            <a:pPr algn="just"/>
            <a:endParaRPr lang="en-US" sz="2800" dirty="0">
              <a:latin typeface="Calibri"/>
              <a:ea typeface="Calibri"/>
              <a:cs typeface="Calibri"/>
            </a:endParaRPr>
          </a:p>
          <a:p>
            <a:pPr marL="457200" indent="-457200">
              <a:buFont typeface="Wingdings" pitchFamily="2" charset="2"/>
              <a:buChar char="v"/>
            </a:pPr>
            <a:r>
              <a:rPr lang="en-US" sz="2800" b="1" dirty="0">
                <a:solidFill>
                  <a:srgbClr val="C00000"/>
                </a:solidFill>
                <a:ea typeface="+mn-lt"/>
                <a:cs typeface="Calibri" panose="020F0502020204030204" pitchFamily="34" charset="0"/>
              </a:rPr>
              <a:t>Outliers (237 values)</a:t>
            </a:r>
            <a:r>
              <a:rPr lang="en-US" sz="2800" dirty="0">
                <a:solidFill>
                  <a:srgbClr val="C00000"/>
                </a:solidFill>
                <a:ea typeface="+mn-lt"/>
                <a:cs typeface="Calibri" panose="020F0502020204030204" pitchFamily="34" charset="0"/>
              </a:rPr>
              <a:t> lacking licenses but with car insurance hint at dataset anomalies, requiring investigation.</a:t>
            </a:r>
            <a:endParaRPr lang="en-US" sz="2800" dirty="0">
              <a:solidFill>
                <a:srgbClr val="C00000"/>
              </a:solidFill>
              <a:ea typeface="Calibri"/>
              <a:cs typeface="Calibri" panose="020F0502020204030204" pitchFamily="34" charset="0"/>
            </a:endParaRPr>
          </a:p>
          <a:p>
            <a:pPr marL="285750" indent="-285750">
              <a:buFont typeface="Wingdings"/>
              <a:buChar char="v"/>
            </a:pPr>
            <a:endParaRPr lang="en-US" sz="2800" dirty="0">
              <a:latin typeface="Calibri"/>
              <a:ea typeface="Calibri Light"/>
              <a:cs typeface="Calibri"/>
            </a:endParaRPr>
          </a:p>
          <a:p>
            <a:pPr marL="285750" indent="-285750" algn="l">
              <a:buFont typeface="Wingdings"/>
              <a:buChar char="v"/>
            </a:pPr>
            <a:endParaRPr lang="en-US" sz="2800" dirty="0">
              <a:latin typeface="Calibri"/>
              <a:ea typeface="Calibri Light"/>
              <a:cs typeface="Calibri"/>
            </a:endParaRPr>
          </a:p>
          <a:p>
            <a:endParaRPr lang="en-US" sz="28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9909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A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4BF0FB0-D995-8009-DE29-4BA176F40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83200"/>
            <a:ext cx="3771900" cy="1574800"/>
          </a:xfrm>
          <a:prstGeom prst="rect">
            <a:avLst/>
          </a:prstGeom>
        </p:spPr>
      </p:pic>
      <p:pic>
        <p:nvPicPr>
          <p:cNvPr id="2" name="Picture 1" descr="A graph of age distribution&#10;&#10;Description automatically generated">
            <a:extLst>
              <a:ext uri="{FF2B5EF4-FFF2-40B4-BE49-F238E27FC236}">
                <a16:creationId xmlns:a16="http://schemas.microsoft.com/office/drawing/2014/main" id="{E32E490B-5AA8-3867-3B8D-0F7AA3173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65" y="1322623"/>
            <a:ext cx="4914900" cy="3867150"/>
          </a:xfrm>
          <a:prstGeom prst="rect">
            <a:avLst/>
          </a:prstGeom>
        </p:spPr>
      </p:pic>
      <p:pic>
        <p:nvPicPr>
          <p:cNvPr id="4" name="Picture 3" descr="A graph showing a plot of age vs. annual premium&#10;&#10;Description automatically generated">
            <a:extLst>
              <a:ext uri="{FF2B5EF4-FFF2-40B4-BE49-F238E27FC236}">
                <a16:creationId xmlns:a16="http://schemas.microsoft.com/office/drawing/2014/main" id="{3B1422F3-1708-236C-B59A-602D6FA70B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3977" y="3258276"/>
            <a:ext cx="6210300" cy="34480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591227-8522-EE58-C0AE-2BB225DDB20F}"/>
              </a:ext>
            </a:extLst>
          </p:cNvPr>
          <p:cNvSpPr txBox="1"/>
          <p:nvPr/>
        </p:nvSpPr>
        <p:spPr>
          <a:xfrm>
            <a:off x="177065" y="0"/>
            <a:ext cx="11705671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dirty="0">
                <a:latin typeface="Aharoni"/>
                <a:ea typeface="+mn-lt"/>
                <a:cs typeface="Aharoni"/>
              </a:rPr>
              <a:t>Age Distribution &amp; Premium Analysis</a:t>
            </a:r>
            <a:endParaRPr lang="en-US" sz="4400" dirty="0">
              <a:latin typeface="Aharoni"/>
              <a:ea typeface="Calibri" panose="020F0502020204030204"/>
              <a:cs typeface="Aharon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43DD52-19C5-DCA6-F88B-EE8541C4CE65}"/>
              </a:ext>
            </a:extLst>
          </p:cNvPr>
          <p:cNvSpPr txBox="1"/>
          <p:nvPr/>
        </p:nvSpPr>
        <p:spPr>
          <a:xfrm>
            <a:off x="5091965" y="769441"/>
            <a:ext cx="7161744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endParaRPr lang="en-US" sz="2800" i="1" dirty="0">
              <a:latin typeface="Segoe UI"/>
              <a:cs typeface="Segoe UI"/>
            </a:endParaRPr>
          </a:p>
          <a:p>
            <a:pPr marL="457200" indent="-457200">
              <a:buFont typeface="Wingdings" pitchFamily="2" charset="2"/>
              <a:buChar char="v"/>
            </a:pPr>
            <a:r>
              <a:rPr lang="en-US" sz="2800" b="1" dirty="0">
                <a:solidFill>
                  <a:srgbClr val="C00000"/>
                </a:solidFill>
                <a:ea typeface="+mn-lt"/>
                <a:cs typeface="+mn-lt"/>
              </a:rPr>
              <a:t>Age 20-29</a:t>
            </a:r>
            <a:r>
              <a:rPr lang="en-US" sz="2800" dirty="0">
                <a:solidFill>
                  <a:srgbClr val="C00000"/>
                </a:solidFill>
                <a:ea typeface="+mn-lt"/>
                <a:cs typeface="+mn-lt"/>
              </a:rPr>
              <a:t> group most prevalent</a:t>
            </a:r>
            <a:endParaRPr lang="en-US" sz="2800" dirty="0">
              <a:solidFill>
                <a:srgbClr val="C00000"/>
              </a:solidFill>
              <a:latin typeface="Calibri"/>
              <a:ea typeface="+mn-lt"/>
              <a:cs typeface="Calibri"/>
            </a:endParaRPr>
          </a:p>
          <a:p>
            <a:pPr marL="457200" indent="-457200">
              <a:buFont typeface="Wingdings" pitchFamily="2" charset="2"/>
              <a:buChar char="v"/>
            </a:pPr>
            <a:r>
              <a:rPr lang="en-US" sz="2800" dirty="0">
                <a:solidFill>
                  <a:srgbClr val="C00000"/>
                </a:solidFill>
                <a:ea typeface="+mn-lt"/>
                <a:cs typeface="+mn-lt"/>
              </a:rPr>
              <a:t>Age </a:t>
            </a:r>
            <a:r>
              <a:rPr lang="en-US" sz="2800" b="1" dirty="0">
                <a:solidFill>
                  <a:srgbClr val="C00000"/>
                </a:solidFill>
                <a:ea typeface="+mn-lt"/>
                <a:cs typeface="+mn-lt"/>
              </a:rPr>
              <a:t>correlates positively</a:t>
            </a:r>
            <a:r>
              <a:rPr lang="en-US" sz="2800" dirty="0">
                <a:solidFill>
                  <a:srgbClr val="C00000"/>
                </a:solidFill>
                <a:ea typeface="+mn-lt"/>
                <a:cs typeface="+mn-lt"/>
              </a:rPr>
              <a:t> with premium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sz="2800" dirty="0">
                <a:solidFill>
                  <a:srgbClr val="C00000"/>
                </a:solidFill>
                <a:ea typeface="+mn-lt"/>
                <a:cs typeface="+mn-lt"/>
              </a:rPr>
              <a:t>Some data points deviate, potentially due to accidents or unique insurance plans.</a:t>
            </a:r>
            <a:endParaRPr lang="en-US" sz="2800" dirty="0">
              <a:solidFill>
                <a:srgbClr val="C00000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2800" dirty="0">
              <a:latin typeface="Calibri Light"/>
              <a:ea typeface="Calibri"/>
              <a:cs typeface="Calibri"/>
            </a:endParaRPr>
          </a:p>
          <a:p>
            <a:pPr marL="342900" indent="-342900" algn="r">
              <a:buFont typeface="Arial"/>
              <a:buChar char="•"/>
            </a:pPr>
            <a:endParaRPr lang="en-US" sz="2800" i="1" dirty="0">
              <a:latin typeface="Segoe UI"/>
              <a:cs typeface="Segoe UI"/>
            </a:endParaRPr>
          </a:p>
          <a:p>
            <a:pPr marL="342900" indent="-342900" algn="r">
              <a:buFont typeface="Arial"/>
              <a:buChar char="•"/>
            </a:pPr>
            <a:endParaRPr lang="en-US" sz="2800" i="1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973764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A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91F3E6B4-D411-A4A8-F997-75E1A179B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2972" y="3534086"/>
            <a:ext cx="2799632" cy="320889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0AFBE28-1CD4-93F8-64A4-9D0668632685}"/>
              </a:ext>
            </a:extLst>
          </p:cNvPr>
          <p:cNvSpPr>
            <a:spLocks noGrp="1"/>
          </p:cNvSpPr>
          <p:nvPr/>
        </p:nvSpPr>
        <p:spPr>
          <a:xfrm>
            <a:off x="6245278" y="1132114"/>
            <a:ext cx="5946723" cy="28128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itchFamily="2" charset="2"/>
              <a:buChar char="v"/>
            </a:pPr>
            <a:r>
              <a:rPr lang="en-US" sz="2800" dirty="0">
                <a:solidFill>
                  <a:srgbClr val="C00000"/>
                </a:solidFill>
                <a:latin typeface="+mn-lt"/>
                <a:ea typeface="+mj-lt"/>
                <a:cs typeface="+mj-lt"/>
              </a:rPr>
              <a:t>The bar chart reveals that most vehicles fall within </a:t>
            </a:r>
            <a:r>
              <a:rPr lang="en-US" sz="2800" b="1" dirty="0">
                <a:solidFill>
                  <a:srgbClr val="C00000"/>
                </a:solidFill>
                <a:latin typeface="+mn-lt"/>
                <a:ea typeface="+mj-lt"/>
                <a:cs typeface="+mj-lt"/>
              </a:rPr>
              <a:t>1 to 2 years</a:t>
            </a:r>
            <a:r>
              <a:rPr lang="en-US" sz="2800" dirty="0">
                <a:solidFill>
                  <a:srgbClr val="C00000"/>
                </a:solidFill>
                <a:latin typeface="+mn-lt"/>
                <a:ea typeface="+mj-lt"/>
                <a:cs typeface="+mj-lt"/>
              </a:rPr>
              <a:t> age group, followed by vehicles </a:t>
            </a:r>
            <a:r>
              <a:rPr lang="en-US" sz="2800" b="1" dirty="0">
                <a:solidFill>
                  <a:srgbClr val="C00000"/>
                </a:solidFill>
                <a:latin typeface="+mn-lt"/>
                <a:ea typeface="+mj-lt"/>
                <a:cs typeface="+mj-lt"/>
              </a:rPr>
              <a:t>less than 1 year</a:t>
            </a:r>
            <a:r>
              <a:rPr lang="en-US" sz="2800" dirty="0">
                <a:solidFill>
                  <a:srgbClr val="C00000"/>
                </a:solidFill>
                <a:latin typeface="+mn-lt"/>
                <a:ea typeface="+mj-lt"/>
                <a:cs typeface="+mj-lt"/>
              </a:rPr>
              <a:t> old. Conversely, older vehicles </a:t>
            </a:r>
            <a:r>
              <a:rPr lang="en-US" sz="2800" b="1" dirty="0">
                <a:solidFill>
                  <a:srgbClr val="C00000"/>
                </a:solidFill>
                <a:latin typeface="+mn-lt"/>
                <a:ea typeface="+mj-lt"/>
                <a:cs typeface="+mj-lt"/>
              </a:rPr>
              <a:t>exceeding 2 years</a:t>
            </a:r>
            <a:r>
              <a:rPr lang="en-US" sz="2800" dirty="0">
                <a:solidFill>
                  <a:srgbClr val="C00000"/>
                </a:solidFill>
                <a:latin typeface="+mn-lt"/>
                <a:ea typeface="+mj-lt"/>
                <a:cs typeface="+mj-lt"/>
              </a:rPr>
              <a:t> are less prevalent in comparison</a:t>
            </a:r>
            <a:endParaRPr lang="en-US" sz="2800" dirty="0">
              <a:solidFill>
                <a:srgbClr val="C00000"/>
              </a:solidFill>
              <a:latin typeface="+mn-lt"/>
              <a:ea typeface="Calibri Light"/>
              <a:cs typeface="Calibri Light"/>
            </a:endParaRPr>
          </a:p>
        </p:txBody>
      </p:sp>
      <p:pic>
        <p:nvPicPr>
          <p:cNvPr id="4" name="Picture 3" descr="A bar graph showing the bar of vehicle age distribution&#10;&#10;Description automatically generated">
            <a:extLst>
              <a:ext uri="{FF2B5EF4-FFF2-40B4-BE49-F238E27FC236}">
                <a16:creationId xmlns:a16="http://schemas.microsoft.com/office/drawing/2014/main" id="{2EC4E8FF-EB55-C056-AE2B-21B5B3FD7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693" y="1053737"/>
            <a:ext cx="5690585" cy="53480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B121E64-ED7C-4476-F76F-6AF4D4CDF21B}"/>
              </a:ext>
            </a:extLst>
          </p:cNvPr>
          <p:cNvSpPr txBox="1"/>
          <p:nvPr/>
        </p:nvSpPr>
        <p:spPr>
          <a:xfrm>
            <a:off x="554693" y="0"/>
            <a:ext cx="683870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dirty="0">
                <a:latin typeface="Aharoni"/>
                <a:ea typeface="Calibri"/>
                <a:cs typeface="Calibri"/>
              </a:rPr>
              <a:t>Vehicle Age Distribution</a:t>
            </a:r>
            <a:endParaRPr lang="en-US" sz="4400" dirty="0">
              <a:latin typeface="Aharoni"/>
            </a:endParaRPr>
          </a:p>
        </p:txBody>
      </p:sp>
    </p:spTree>
    <p:extLst>
      <p:ext uri="{BB962C8B-B14F-4D97-AF65-F5344CB8AC3E}">
        <p14:creationId xmlns:p14="http://schemas.microsoft.com/office/powerpoint/2010/main" val="1891729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A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C4CF6-48E2-BAA4-C54E-973BF0D71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26" y="0"/>
            <a:ext cx="8345346" cy="1344852"/>
          </a:xfrm>
        </p:spPr>
        <p:txBody>
          <a:bodyPr/>
          <a:lstStyle/>
          <a:p>
            <a:r>
              <a:rPr lang="en-US" dirty="0">
                <a:latin typeface="Aharoni"/>
                <a:ea typeface="+mj-lt"/>
                <a:cs typeface="+mj-lt"/>
              </a:rPr>
              <a:t>Gender-Based Insurance Premium Distribution</a:t>
            </a:r>
          </a:p>
        </p:txBody>
      </p:sp>
      <p:pic>
        <p:nvPicPr>
          <p:cNvPr id="4" name="Content Placeholder 3" descr="A diagram of a number of people&#10;&#10;Description automatically generated">
            <a:extLst>
              <a:ext uri="{FF2B5EF4-FFF2-40B4-BE49-F238E27FC236}">
                <a16:creationId xmlns:a16="http://schemas.microsoft.com/office/drawing/2014/main" id="{46CC0BC7-CFB9-298A-7726-6A2F7EB336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90547" y="888275"/>
            <a:ext cx="4787944" cy="3948376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AD92AA-FD1D-6B83-CA0D-BFB522F76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173" y="4920360"/>
            <a:ext cx="3587826" cy="19376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05F508-F921-8800-0430-924416E0182D}"/>
              </a:ext>
            </a:extLst>
          </p:cNvPr>
          <p:cNvSpPr txBox="1"/>
          <p:nvPr/>
        </p:nvSpPr>
        <p:spPr>
          <a:xfrm>
            <a:off x="127626" y="1924704"/>
            <a:ext cx="6920403" cy="33855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 pitchFamily="2" charset="2"/>
              <a:buChar char="v"/>
            </a:pPr>
            <a:r>
              <a:rPr lang="en-US" sz="2800" dirty="0">
                <a:solidFill>
                  <a:srgbClr val="C00000"/>
                </a:solidFill>
                <a:ea typeface="+mn-lt"/>
                <a:cs typeface="+mn-lt"/>
              </a:rPr>
              <a:t>Gender-based analysis reveals that we </a:t>
            </a:r>
            <a:r>
              <a:rPr lang="en-US" sz="2800" b="1" dirty="0">
                <a:solidFill>
                  <a:srgbClr val="C00000"/>
                </a:solidFill>
                <a:ea typeface="+mn-lt"/>
                <a:cs typeface="+mn-lt"/>
              </a:rPr>
              <a:t>have more male policyholders than women </a:t>
            </a:r>
            <a:r>
              <a:rPr lang="en-US" sz="2800" dirty="0">
                <a:solidFill>
                  <a:srgbClr val="C00000"/>
                </a:solidFill>
                <a:ea typeface="+mn-lt"/>
                <a:cs typeface="+mn-lt"/>
              </a:rPr>
              <a:t>in our dataset.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sz="2800" dirty="0">
                <a:solidFill>
                  <a:srgbClr val="C00000"/>
                </a:solidFill>
                <a:ea typeface="+mn-lt"/>
                <a:cs typeface="+mn-lt"/>
              </a:rPr>
              <a:t>The disparity in insurance premiums  between genders may suggest</a:t>
            </a:r>
            <a:r>
              <a:rPr lang="en-US" sz="2800" b="1" dirty="0">
                <a:solidFill>
                  <a:srgbClr val="C00000"/>
                </a:solidFill>
                <a:ea typeface="+mn-lt"/>
                <a:cs typeface="+mn-lt"/>
              </a:rPr>
              <a:t> an influence of gender</a:t>
            </a:r>
            <a:r>
              <a:rPr lang="en-US" sz="2800" dirty="0">
                <a:solidFill>
                  <a:srgbClr val="C00000"/>
                </a:solidFill>
                <a:ea typeface="+mn-lt"/>
                <a:cs typeface="+mn-lt"/>
              </a:rPr>
              <a:t> as a significant predictor.</a:t>
            </a:r>
            <a:endParaRPr lang="en-US" sz="2800" dirty="0">
              <a:solidFill>
                <a:srgbClr val="C00000"/>
              </a:solidFill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28052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A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DFF512-86AA-465D-A257-D13EF3350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46130"/>
            <a:ext cx="2956965" cy="1919387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A5E0E8-A910-A546-155E-23B2DCEF5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4414" y="95795"/>
            <a:ext cx="7942051" cy="647918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latin typeface="Lucida Console"/>
              </a:rPr>
              <a:t>Call:
</a:t>
            </a:r>
            <a:r>
              <a:rPr lang="en-US" sz="1400" dirty="0" err="1">
                <a:latin typeface="Lucida Console"/>
              </a:rPr>
              <a:t>lm</a:t>
            </a:r>
            <a:r>
              <a:rPr lang="en-US" sz="1400" dirty="0">
                <a:latin typeface="Lucida Console"/>
              </a:rPr>
              <a:t>(formula = </a:t>
            </a:r>
            <a:r>
              <a:rPr lang="en-US" sz="1400" dirty="0" err="1">
                <a:latin typeface="Lucida Console"/>
              </a:rPr>
              <a:t>Annual_Premium</a:t>
            </a:r>
            <a:r>
              <a:rPr lang="en-US" sz="1400" dirty="0">
                <a:latin typeface="Lucida Console"/>
              </a:rPr>
              <a:t> ~ ., data = </a:t>
            </a:r>
            <a:r>
              <a:rPr lang="en-US" sz="1400" dirty="0" err="1">
                <a:latin typeface="Lucida Console"/>
              </a:rPr>
              <a:t>data_clean</a:t>
            </a:r>
            <a:r>
              <a:rPr lang="en-US" sz="1400" dirty="0">
                <a:latin typeface="Lucida Console"/>
              </a:rPr>
              <a:t>)
Residuals:
   Min     1Q Median     3Q    Max 
-39400  -5033   1110   7437  50544 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latin typeface="Lucida Console"/>
                <a:ea typeface="Calibri"/>
                <a:cs typeface="Calibri"/>
              </a:rPr>
              <a:t>Coefficients: (1 not defined because of singularities)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>
                <a:latin typeface="Lucida Console"/>
                <a:ea typeface="Calibri"/>
                <a:cs typeface="Calibri"/>
              </a:rPr>
              <a:t>                          Estimate Std. Error t value </a:t>
            </a:r>
            <a:r>
              <a:rPr lang="en-US" sz="1400" dirty="0" err="1">
                <a:latin typeface="Lucida Console"/>
                <a:ea typeface="Calibri"/>
                <a:cs typeface="Calibri"/>
              </a:rPr>
              <a:t>Pr</a:t>
            </a:r>
            <a:r>
              <a:rPr lang="en-US" sz="1400" dirty="0">
                <a:latin typeface="Lucida Console"/>
                <a:ea typeface="Calibri"/>
                <a:cs typeface="Calibri"/>
              </a:rPr>
              <a:t>(&gt;|t|)    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>
                <a:latin typeface="Lucida Console"/>
                <a:ea typeface="Calibri"/>
                <a:cs typeface="Calibri"/>
              </a:rPr>
              <a:t>(Intercept)             -2.593e+04  9.210e+02 -28.158  &lt; 2e-16 ***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b="1" dirty="0">
                <a:latin typeface="Lucida Console"/>
                <a:ea typeface="Calibri"/>
                <a:cs typeface="Calibri"/>
              </a:rPr>
              <a:t>id </a:t>
            </a:r>
            <a:r>
              <a:rPr lang="en-US" sz="1400" dirty="0">
                <a:latin typeface="Lucida Console"/>
                <a:ea typeface="Calibri"/>
                <a:cs typeface="Calibri"/>
              </a:rPr>
              <a:t>                      9.399e-04  9.655e-04   0.974 0.330288    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 err="1">
                <a:latin typeface="Lucida Console"/>
                <a:ea typeface="Calibri"/>
                <a:cs typeface="Calibri"/>
              </a:rPr>
              <a:t>GenderMale</a:t>
            </a:r>
            <a:r>
              <a:rPr lang="en-US" sz="1400" dirty="0">
                <a:latin typeface="Lucida Console"/>
                <a:ea typeface="Calibri"/>
                <a:cs typeface="Calibri"/>
              </a:rPr>
              <a:t>               1.432e+02  7.247e+01   1.975 0.048223 *  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>
                <a:latin typeface="Lucida Console"/>
                <a:ea typeface="Calibri"/>
                <a:cs typeface="Calibri"/>
              </a:rPr>
              <a:t>Age                      2.534e+01  3.969e+00   6.385 1.72e-10 ***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b="1" dirty="0" err="1">
                <a:latin typeface="Lucida Console"/>
                <a:ea typeface="Calibri"/>
                <a:cs typeface="Calibri"/>
              </a:rPr>
              <a:t>Driving_License</a:t>
            </a:r>
            <a:r>
              <a:rPr lang="en-US" sz="1400" b="1" dirty="0">
                <a:latin typeface="Lucida Console"/>
                <a:ea typeface="Calibri"/>
                <a:cs typeface="Calibri"/>
              </a:rPr>
              <a:t> </a:t>
            </a:r>
            <a:r>
              <a:rPr lang="en-US" sz="1400" dirty="0">
                <a:latin typeface="Lucida Console"/>
                <a:ea typeface="Calibri"/>
                <a:cs typeface="Calibri"/>
              </a:rPr>
              <a:t>                NA         NA      NA       NA    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>
                <a:latin typeface="Lucida Console"/>
                <a:ea typeface="Calibri"/>
                <a:cs typeface="Calibri"/>
              </a:rPr>
              <a:t>Region_Code1             1.344e+03  8.181e+02   1.643 0.100318    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>
                <a:latin typeface="Lucida Console"/>
                <a:ea typeface="Calibri"/>
                <a:cs typeface="Calibri"/>
              </a:rPr>
              <a:t>..........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>
                <a:latin typeface="Lucida Console"/>
                <a:ea typeface="Calibri"/>
                <a:cs typeface="Calibri"/>
              </a:rPr>
              <a:t>Region_Code52            2.565e+04  1.411e+03  18.181  &lt; 2e-16 ***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 err="1">
                <a:latin typeface="Lucida Console"/>
                <a:ea typeface="Calibri"/>
                <a:cs typeface="Calibri"/>
              </a:rPr>
              <a:t>Previously_Insured</a:t>
            </a:r>
            <a:r>
              <a:rPr lang="en-US" sz="1400" dirty="0">
                <a:latin typeface="Lucida Console"/>
                <a:ea typeface="Calibri"/>
                <a:cs typeface="Calibri"/>
              </a:rPr>
              <a:t>       3.114e+02  1.279e+02   2.434 0.014917 *  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 err="1">
                <a:latin typeface="Lucida Console"/>
                <a:ea typeface="Calibri"/>
                <a:cs typeface="Calibri"/>
              </a:rPr>
              <a:t>Vehicle_Age</a:t>
            </a:r>
            <a:r>
              <a:rPr lang="en-US" sz="1400" dirty="0">
                <a:latin typeface="Lucida Console"/>
                <a:ea typeface="Calibri"/>
                <a:cs typeface="Calibri"/>
              </a:rPr>
              <a:t>&gt; 2 Years    -8.921e+02  2.536e+02  -3.518 0.000436 ***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>
                <a:latin typeface="Lucida Console"/>
                <a:ea typeface="Calibri"/>
                <a:cs typeface="Calibri"/>
              </a:rPr>
              <a:t>Vehicle_Age1-2 Year     -2.969e+03  1.678e+02 -17.688  &lt; 2e-16 ***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 err="1">
                <a:latin typeface="Lucida Console"/>
                <a:ea typeface="Calibri"/>
                <a:cs typeface="Calibri"/>
              </a:rPr>
              <a:t>Vehicle_DamageYes</a:t>
            </a:r>
            <a:r>
              <a:rPr lang="en-US" sz="1400" dirty="0">
                <a:latin typeface="Lucida Console"/>
                <a:ea typeface="Calibri"/>
                <a:cs typeface="Calibri"/>
              </a:rPr>
              <a:t>        5.100e+02  1.282e+02   3.980 6.91e-05 ***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>
                <a:latin typeface="Lucida Console"/>
                <a:ea typeface="Calibri"/>
                <a:cs typeface="Calibri"/>
              </a:rPr>
              <a:t>Policy_Sales_Channel2    3.165e+04  1.245e+04   2.542 0.011033 *  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>
                <a:latin typeface="Lucida Console"/>
                <a:ea typeface="Calibri"/>
                <a:cs typeface="Calibri"/>
              </a:rPr>
              <a:t>............</a:t>
            </a:r>
          </a:p>
          <a:p>
            <a:pPr marL="0" indent="0">
              <a:buNone/>
            </a:pPr>
            <a:r>
              <a:rPr lang="en-US" sz="1400" b="1" dirty="0">
                <a:latin typeface="Lucida Console"/>
                <a:ea typeface="Calibri"/>
                <a:cs typeface="Calibri"/>
              </a:rPr>
              <a:t>Policy_Sales_Channel163</a:t>
            </a:r>
            <a:r>
              <a:rPr lang="en-US" sz="1400" dirty="0">
                <a:latin typeface="Lucida Console"/>
                <a:ea typeface="Calibri"/>
                <a:cs typeface="Calibri"/>
              </a:rPr>
              <a:t>  2.384e+04  7.681e+02  31.040  &lt; 2e-16 ***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b="1" dirty="0">
                <a:latin typeface="Lucida Console"/>
                <a:ea typeface="Calibri"/>
                <a:cs typeface="Calibri"/>
              </a:rPr>
              <a:t>Vintage </a:t>
            </a:r>
            <a:r>
              <a:rPr lang="en-US" sz="1400" dirty="0">
                <a:latin typeface="Lucida Console"/>
                <a:ea typeface="Calibri"/>
                <a:cs typeface="Calibri"/>
              </a:rPr>
              <a:t>                -1.034e-01  4.234e-01  -0.244 0.807152   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>
                <a:latin typeface="Lucida Console"/>
                <a:ea typeface="Calibri"/>
                <a:cs typeface="Calibri"/>
              </a:rPr>
              <a:t>---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 err="1">
                <a:latin typeface="Lucida Console"/>
                <a:ea typeface="Calibri"/>
                <a:cs typeface="Calibri"/>
              </a:rPr>
              <a:t>Signif</a:t>
            </a:r>
            <a:r>
              <a:rPr lang="en-US" sz="1400" dirty="0">
                <a:latin typeface="Lucida Console"/>
                <a:ea typeface="Calibri"/>
                <a:cs typeface="Calibri"/>
              </a:rPr>
              <a:t>. codes:  0 ‘***’ 0.001 ‘**’ 0.01 ‘*’ 0.05 ‘.’ 0.1 ‘ ’ 1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>
                <a:latin typeface="Lucida Console"/>
                <a:ea typeface="Calibri"/>
                <a:cs typeface="Calibri"/>
              </a:rPr>
              <a:t>Residual standard error: 12430 on 123193 degrees of freedom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>
                <a:latin typeface="Lucida Console"/>
                <a:ea typeface="Calibri"/>
                <a:cs typeface="Calibri"/>
              </a:rPr>
              <a:t>Multiple R-squared:  0.2909, Adjusted R-squared:  0.2897 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>
                <a:latin typeface="Lucida Console"/>
                <a:ea typeface="Calibri"/>
                <a:cs typeface="Calibri"/>
              </a:rPr>
              <a:t>F-statistic: 247.7 on 204 and 123193 DF,  p-value: &lt; 2.2e-16</a:t>
            </a:r>
          </a:p>
          <a:p>
            <a:pPr>
              <a:buNone/>
            </a:pPr>
            <a:endParaRPr lang="en-US" sz="1400" dirty="0">
              <a:ea typeface="+mn-lt"/>
              <a:cs typeface="+mn-lt"/>
            </a:endParaRP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sz="1500" dirty="0">
              <a:latin typeface="Lucida Console"/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576A7A-AAEF-D3D1-EFB6-18B961285033}"/>
              </a:ext>
            </a:extLst>
          </p:cNvPr>
          <p:cNvSpPr txBox="1"/>
          <p:nvPr/>
        </p:nvSpPr>
        <p:spPr>
          <a:xfrm>
            <a:off x="0" y="0"/>
            <a:ext cx="3332543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dirty="0">
                <a:latin typeface="Aharoni"/>
                <a:ea typeface="Calibri"/>
                <a:cs typeface="Calibri"/>
              </a:rPr>
              <a:t>Regression </a:t>
            </a:r>
          </a:p>
          <a:p>
            <a:r>
              <a:rPr lang="en-US" sz="4400" dirty="0">
                <a:latin typeface="Aharoni"/>
                <a:ea typeface="Calibri"/>
                <a:cs typeface="Calibri"/>
              </a:rPr>
              <a:t>Results of</a:t>
            </a:r>
          </a:p>
          <a:p>
            <a:r>
              <a:rPr lang="en-US" sz="4400" dirty="0">
                <a:latin typeface="Aharoni"/>
                <a:ea typeface="Calibri"/>
                <a:cs typeface="Calibri"/>
              </a:rPr>
              <a:t>Model </a:t>
            </a:r>
            <a:r>
              <a:rPr lang="en-US" sz="4400" b="1" dirty="0">
                <a:latin typeface="Arial Black" panose="020B0604020202020204" pitchFamily="34" charset="0"/>
                <a:ea typeface="Calibri"/>
                <a:cs typeface="Arial Black" panose="020B0604020202020204" pitchFamily="34" charset="0"/>
              </a:rPr>
              <a:t>1</a:t>
            </a:r>
          </a:p>
        </p:txBody>
      </p:sp>
      <p:pic>
        <p:nvPicPr>
          <p:cNvPr id="12" name="Graphic 11" descr="Arrow: Slight curve with solid fill">
            <a:extLst>
              <a:ext uri="{FF2B5EF4-FFF2-40B4-BE49-F238E27FC236}">
                <a16:creationId xmlns:a16="http://schemas.microsoft.com/office/drawing/2014/main" id="{A9E90877-0F55-7800-D6A8-1A76F8701E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1871" y="212365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520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A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47E39-A746-8B11-CC9B-846451AB0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br>
              <a:rPr lang="en-US" sz="1100">
                <a:ea typeface="+mn-lt"/>
                <a:cs typeface="+mn-lt"/>
              </a:rPr>
            </a:br>
            <a:endParaRPr lang="en-US" sz="1100">
              <a:ea typeface="+mn-lt"/>
              <a:cs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C7E639-FBC0-23A8-54BA-9D849EC59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263720" y="5428045"/>
            <a:ext cx="2928280" cy="1429955"/>
          </a:xfrm>
          <a:prstGeom prst="rect">
            <a:avLst/>
          </a:prstGeom>
        </p:spPr>
      </p:pic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97C0F7AE-4EE1-1DD2-AC77-D15B498870E3}"/>
              </a:ext>
            </a:extLst>
          </p:cNvPr>
          <p:cNvSpPr txBox="1">
            <a:spLocks/>
          </p:cNvSpPr>
          <p:nvPr/>
        </p:nvSpPr>
        <p:spPr>
          <a:xfrm>
            <a:off x="838200" y="189407"/>
            <a:ext cx="7942051" cy="64791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dirty="0">
                <a:latin typeface="Lucida Console"/>
                <a:ea typeface="Calibri"/>
                <a:cs typeface="Calibri"/>
              </a:rPr>
              <a:t>Call:
</a:t>
            </a:r>
            <a:r>
              <a:rPr lang="en-US" sz="1500" dirty="0" err="1">
                <a:latin typeface="Lucida Console"/>
                <a:ea typeface="Calibri"/>
                <a:cs typeface="Calibri"/>
              </a:rPr>
              <a:t>lm</a:t>
            </a:r>
            <a:r>
              <a:rPr lang="en-US" sz="1500" dirty="0">
                <a:latin typeface="Lucida Console"/>
                <a:ea typeface="Calibri"/>
                <a:cs typeface="Calibri"/>
              </a:rPr>
              <a:t>(formula = </a:t>
            </a:r>
            <a:r>
              <a:rPr lang="en-US" sz="1500" dirty="0" err="1">
                <a:latin typeface="Lucida Console"/>
                <a:ea typeface="Calibri"/>
                <a:cs typeface="Calibri"/>
              </a:rPr>
              <a:t>Annual_Premium</a:t>
            </a:r>
            <a:r>
              <a:rPr lang="en-US" sz="1500" dirty="0">
                <a:latin typeface="Lucida Console"/>
                <a:ea typeface="Calibri"/>
                <a:cs typeface="Calibri"/>
              </a:rPr>
              <a:t> ~ . - id - </a:t>
            </a:r>
            <a:r>
              <a:rPr lang="en-US" sz="1500" dirty="0" err="1">
                <a:latin typeface="Lucida Console"/>
                <a:ea typeface="Calibri"/>
                <a:cs typeface="Calibri"/>
              </a:rPr>
              <a:t>Policy_Sales_Channel</a:t>
            </a:r>
            <a:r>
              <a:rPr lang="en-US" sz="1500" dirty="0">
                <a:latin typeface="Lucida Console"/>
                <a:ea typeface="Calibri"/>
                <a:cs typeface="Calibri"/>
              </a:rPr>
              <a:t> - 
    Vintage - </a:t>
            </a:r>
            <a:r>
              <a:rPr lang="en-US" sz="1500" dirty="0" err="1">
                <a:latin typeface="Lucida Console"/>
                <a:ea typeface="Calibri"/>
                <a:cs typeface="Calibri"/>
              </a:rPr>
              <a:t>Driving_License</a:t>
            </a:r>
            <a:r>
              <a:rPr lang="en-US" sz="1500" dirty="0">
                <a:latin typeface="Lucida Console"/>
                <a:ea typeface="Calibri"/>
                <a:cs typeface="Calibri"/>
              </a:rPr>
              <a:t>, data = </a:t>
            </a:r>
            <a:r>
              <a:rPr lang="en-US" sz="1500" dirty="0" err="1">
                <a:latin typeface="Lucida Console"/>
                <a:ea typeface="Calibri"/>
                <a:cs typeface="Calibri"/>
              </a:rPr>
              <a:t>data_clean</a:t>
            </a:r>
            <a:r>
              <a:rPr lang="en-US" sz="1500" dirty="0">
                <a:latin typeface="Lucida Console"/>
                <a:ea typeface="Calibri"/>
                <a:cs typeface="Calibri"/>
              </a:rPr>
              <a:t>)
Residuals:
   Min     1Q Median     3Q    Max 
-38318  -4472   1846   8026  49529 
Coefficients:
                     Estimate Std. Error t value </a:t>
            </a:r>
            <a:r>
              <a:rPr lang="en-US" sz="1500" dirty="0" err="1">
                <a:latin typeface="Lucida Console"/>
                <a:ea typeface="Calibri"/>
                <a:cs typeface="Calibri"/>
              </a:rPr>
              <a:t>Pr</a:t>
            </a:r>
            <a:r>
              <a:rPr lang="en-US" sz="1500" dirty="0">
                <a:latin typeface="Lucida Console"/>
                <a:ea typeface="Calibri"/>
                <a:cs typeface="Calibri"/>
              </a:rPr>
              <a:t>(&gt;|t|)    
(Intercept)           1873.75     533.04   3.515  0.00044 ***
</a:t>
            </a:r>
            <a:r>
              <a:rPr lang="en-US" sz="1500" dirty="0" err="1">
                <a:latin typeface="Lucida Console"/>
                <a:ea typeface="Calibri"/>
                <a:cs typeface="Calibri"/>
              </a:rPr>
              <a:t>GenderMale</a:t>
            </a:r>
            <a:r>
              <a:rPr lang="en-US" sz="1500" dirty="0">
                <a:latin typeface="Lucida Console"/>
                <a:ea typeface="Calibri"/>
                <a:cs typeface="Calibri"/>
              </a:rPr>
              <a:t>             155.28      76.15   2.039  0.04144 *  
</a:t>
            </a:r>
            <a:r>
              <a:rPr lang="en-US" sz="1500" b="1" dirty="0">
                <a:latin typeface="Lucida Console"/>
                <a:ea typeface="Calibri"/>
                <a:cs typeface="Calibri"/>
              </a:rPr>
              <a:t>Age  </a:t>
            </a:r>
            <a:r>
              <a:rPr lang="en-US" sz="1500" dirty="0">
                <a:latin typeface="Lucida Console"/>
                <a:ea typeface="Calibri"/>
                <a:cs typeface="Calibri"/>
              </a:rPr>
              <a:t>                   </a:t>
            </a:r>
            <a:r>
              <a:rPr lang="en-US" sz="1500" b="1" dirty="0">
                <a:latin typeface="Lucida Console"/>
                <a:ea typeface="Calibri"/>
                <a:cs typeface="Calibri"/>
              </a:rPr>
              <a:t>78.59</a:t>
            </a:r>
            <a:r>
              <a:rPr lang="en-US" sz="1500" dirty="0">
                <a:latin typeface="Lucida Console"/>
                <a:ea typeface="Calibri"/>
                <a:cs typeface="Calibri"/>
              </a:rPr>
              <a:t>       4.01  19.600  &lt; 2e-16 ***
Region_Code1          -593.50     860.12  -0.690  0.49019    </a:t>
            </a:r>
            <a:endParaRPr lang="en-US" sz="15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500" dirty="0">
                <a:latin typeface="Lucida Console"/>
                <a:ea typeface="Calibri"/>
                <a:cs typeface="Calibri"/>
              </a:rPr>
              <a:t>..........</a:t>
            </a:r>
            <a:endParaRPr lang="en-US" sz="1500" dirty="0">
              <a:ea typeface="Calibri"/>
              <a:cs typeface="Calibri"/>
            </a:endParaRPr>
          </a:p>
          <a:p>
            <a:r>
              <a:rPr lang="en-US" sz="1500" dirty="0">
                <a:latin typeface="Lucida Console"/>
                <a:ea typeface="Calibri"/>
                <a:cs typeface="Calibri"/>
              </a:rPr>
              <a:t>Region_Code52        23509.47    1486.48  15.815  &lt; 2e-16 ***
</a:t>
            </a:r>
            <a:r>
              <a:rPr lang="en-US" sz="1500" b="1" dirty="0" err="1">
                <a:latin typeface="Lucida Console"/>
                <a:ea typeface="Calibri"/>
                <a:cs typeface="Calibri"/>
              </a:rPr>
              <a:t>Previously_Insured</a:t>
            </a:r>
            <a:r>
              <a:rPr lang="en-US" sz="1500" b="1" dirty="0">
                <a:latin typeface="Lucida Console"/>
                <a:ea typeface="Calibri"/>
                <a:cs typeface="Calibri"/>
              </a:rPr>
              <a:t> </a:t>
            </a:r>
            <a:r>
              <a:rPr lang="en-US" sz="1500" dirty="0">
                <a:latin typeface="Lucida Console"/>
                <a:ea typeface="Calibri"/>
                <a:cs typeface="Calibri"/>
              </a:rPr>
              <a:t>  </a:t>
            </a:r>
            <a:r>
              <a:rPr lang="en-US" sz="1500" b="1" dirty="0">
                <a:latin typeface="Lucida Console"/>
                <a:ea typeface="Calibri"/>
                <a:cs typeface="Calibri"/>
              </a:rPr>
              <a:t> 1479.11</a:t>
            </a:r>
            <a:r>
              <a:rPr lang="en-US" sz="1500" dirty="0">
                <a:latin typeface="Lucida Console"/>
                <a:ea typeface="Calibri"/>
                <a:cs typeface="Calibri"/>
              </a:rPr>
              <a:t>     133.22  11.103  &lt; 2e-16 ***
</a:t>
            </a:r>
            <a:r>
              <a:rPr lang="en-US" sz="1500" dirty="0" err="1">
                <a:latin typeface="Lucida Console"/>
                <a:ea typeface="Calibri"/>
                <a:cs typeface="Calibri"/>
              </a:rPr>
              <a:t>Vehicle_Age</a:t>
            </a:r>
            <a:r>
              <a:rPr lang="en-US" sz="1500" dirty="0">
                <a:latin typeface="Lucida Console"/>
                <a:ea typeface="Calibri"/>
                <a:cs typeface="Calibri"/>
              </a:rPr>
              <a:t>&gt; 2 Years -1454.22     240.81  -6.039 1.56e-09 ***
Vehicle_Age1-2 Year  -3555.95     130.43 -27.264  &lt; 2e-16 ***
</a:t>
            </a:r>
            <a:r>
              <a:rPr lang="en-US" sz="1500" dirty="0" err="1">
                <a:latin typeface="Lucida Console"/>
                <a:ea typeface="Calibri"/>
                <a:cs typeface="Calibri"/>
              </a:rPr>
              <a:t>Vehicle_DamageYes</a:t>
            </a:r>
            <a:r>
              <a:rPr lang="en-US" sz="1500" dirty="0">
                <a:latin typeface="Lucida Console"/>
                <a:ea typeface="Calibri"/>
                <a:cs typeface="Calibri"/>
              </a:rPr>
              <a:t>      364.71     133.30   2.736  0.00622 ** 
---
</a:t>
            </a:r>
            <a:r>
              <a:rPr lang="en-US" sz="1500" dirty="0" err="1">
                <a:latin typeface="Lucida Console"/>
                <a:ea typeface="Calibri"/>
                <a:cs typeface="Calibri"/>
              </a:rPr>
              <a:t>Signif</a:t>
            </a:r>
            <a:r>
              <a:rPr lang="en-US" sz="1500" dirty="0">
                <a:latin typeface="Lucida Console"/>
                <a:ea typeface="Calibri"/>
                <a:cs typeface="Calibri"/>
              </a:rPr>
              <a:t>. codes:  0 ‘***’ 0.001 ‘**’ 0.01 ‘*’ 0.05 ‘.’ 0.1 ‘ ’ 1
Residual standard error: 13110 on 123339 degrees of freedom
Multiple R-squared:  0.2102,	Adjusted R-squared:  0.2099 
F-statistic: 566.1 on 58 and 123339 DF,  p-value: &lt; 2.2e-16</a:t>
            </a:r>
            <a:br>
              <a:rPr lang="en-US" sz="1500" dirty="0">
                <a:latin typeface="Lucida Console"/>
                <a:ea typeface="Calibri"/>
                <a:cs typeface="Calibri"/>
              </a:rPr>
            </a:br>
            <a:br>
              <a:rPr lang="en-US" sz="1500" dirty="0">
                <a:latin typeface="Lucida Console"/>
              </a:rPr>
            </a:br>
            <a:endParaRPr lang="en-US" sz="1500" dirty="0">
              <a:latin typeface="Lucida Console"/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500" dirty="0">
              <a:latin typeface="Lucida Console"/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2F00D9-A88A-7D04-B1CA-D758D8315FBC}"/>
              </a:ext>
            </a:extLst>
          </p:cNvPr>
          <p:cNvSpPr txBox="1"/>
          <p:nvPr/>
        </p:nvSpPr>
        <p:spPr>
          <a:xfrm>
            <a:off x="0" y="395468"/>
            <a:ext cx="304108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lvl="1" indent="-285750">
              <a:buFont typeface="Arial"/>
              <a:buChar char="•"/>
            </a:pPr>
            <a:endParaRPr lang="en-US" i="1" dirty="0">
              <a:solidFill>
                <a:srgbClr val="28734A"/>
              </a:solidFill>
              <a:latin typeface="Segoe UI"/>
              <a:ea typeface="+mn-lt"/>
              <a:cs typeface="+mn-lt"/>
            </a:endParaRPr>
          </a:p>
          <a:p>
            <a:r>
              <a:rPr lang="en-US" i="1" dirty="0">
                <a:solidFill>
                  <a:srgbClr val="28734A"/>
                </a:solidFill>
                <a:latin typeface="Segoe UI"/>
                <a:ea typeface="+mn-lt"/>
                <a:cs typeface="+mn-lt"/>
              </a:rPr>
              <a:t>.</a:t>
            </a:r>
            <a:endParaRPr lang="en-US" i="1" dirty="0">
              <a:latin typeface="Segoe UI"/>
              <a:ea typeface="Calibri" panose="020F0502020204030204"/>
              <a:cs typeface="Calibri" panose="020F0502020204030204"/>
            </a:endParaRPr>
          </a:p>
          <a:p>
            <a:endParaRPr lang="en-US" sz="2000" i="1" dirty="0">
              <a:solidFill>
                <a:srgbClr val="28734A"/>
              </a:solidFill>
              <a:latin typeface="Segoe UI"/>
              <a:ea typeface="+mn-lt"/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925DF4-3678-0965-5CF7-09396DC1DFFF}"/>
              </a:ext>
            </a:extLst>
          </p:cNvPr>
          <p:cNvSpPr txBox="1"/>
          <p:nvPr/>
        </p:nvSpPr>
        <p:spPr>
          <a:xfrm>
            <a:off x="8622537" y="0"/>
            <a:ext cx="3541926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sz="4400" dirty="0">
                <a:latin typeface="Aharoni"/>
                <a:ea typeface="Calibri"/>
                <a:cs typeface="Calibri"/>
              </a:rPr>
              <a:t>Regression</a:t>
            </a:r>
          </a:p>
          <a:p>
            <a:pPr algn="r"/>
            <a:r>
              <a:rPr lang="en-US" sz="4400" dirty="0">
                <a:latin typeface="Aharoni"/>
                <a:ea typeface="Calibri"/>
                <a:cs typeface="Calibri"/>
              </a:rPr>
              <a:t>Results of</a:t>
            </a:r>
          </a:p>
          <a:p>
            <a:pPr algn="r"/>
            <a:r>
              <a:rPr lang="en-US" sz="4400" dirty="0">
                <a:latin typeface="Aharoni"/>
                <a:ea typeface="Calibri"/>
                <a:cs typeface="Calibri"/>
              </a:rPr>
              <a:t>Model </a:t>
            </a:r>
            <a:r>
              <a:rPr lang="en-US" sz="4400" b="1" dirty="0">
                <a:latin typeface="Arial Black" panose="020B0604020202020204" pitchFamily="34" charset="0"/>
                <a:ea typeface="Calibri"/>
                <a:cs typeface="Arial Black" panose="020B0604020202020204" pitchFamily="34" charset="0"/>
              </a:rPr>
              <a:t>2</a:t>
            </a:r>
          </a:p>
        </p:txBody>
      </p:sp>
      <p:pic>
        <p:nvPicPr>
          <p:cNvPr id="9" name="Graphic 8" descr="Arrow: Slight curve with solid fill">
            <a:extLst>
              <a:ext uri="{FF2B5EF4-FFF2-40B4-BE49-F238E27FC236}">
                <a16:creationId xmlns:a16="http://schemas.microsoft.com/office/drawing/2014/main" id="{6738C7D6-4B72-73E9-B70B-073EA23CAA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10727860" y="209820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938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A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Content Placeholder 5">
            <a:extLst>
              <a:ext uri="{FF2B5EF4-FFF2-40B4-BE49-F238E27FC236}">
                <a16:creationId xmlns:a16="http://schemas.microsoft.com/office/drawing/2014/main" id="{8E108324-E068-7EFD-3E8D-E1C8011121B5}"/>
              </a:ext>
            </a:extLst>
          </p:cNvPr>
          <p:cNvSpPr txBox="1">
            <a:spLocks/>
          </p:cNvSpPr>
          <p:nvPr/>
        </p:nvSpPr>
        <p:spPr>
          <a:xfrm>
            <a:off x="3257910" y="196604"/>
            <a:ext cx="8934090" cy="68386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latin typeface="Lucida Console"/>
                <a:ea typeface="Calibri"/>
                <a:cs typeface="Calibri"/>
              </a:rPr>
              <a:t>Call: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 err="1">
                <a:latin typeface="Lucida Console"/>
                <a:ea typeface="Calibri"/>
                <a:cs typeface="Calibri"/>
              </a:rPr>
              <a:t>lm</a:t>
            </a:r>
            <a:r>
              <a:rPr lang="en-US" sz="1400" dirty="0">
                <a:latin typeface="Lucida Console"/>
                <a:ea typeface="Calibri"/>
                <a:cs typeface="Calibri"/>
              </a:rPr>
              <a:t>(formula = </a:t>
            </a:r>
            <a:r>
              <a:rPr lang="en-US" sz="1400" dirty="0" err="1">
                <a:latin typeface="Lucida Console"/>
                <a:ea typeface="Calibri"/>
                <a:cs typeface="Calibri"/>
              </a:rPr>
              <a:t>Annual_Premium</a:t>
            </a:r>
            <a:r>
              <a:rPr lang="en-US" sz="1400" dirty="0">
                <a:latin typeface="Lucida Console"/>
                <a:ea typeface="Calibri"/>
                <a:cs typeface="Calibri"/>
              </a:rPr>
              <a:t> ~ . - id - </a:t>
            </a:r>
            <a:r>
              <a:rPr lang="en-US" sz="1400" dirty="0" err="1">
                <a:latin typeface="Lucida Console"/>
                <a:ea typeface="Calibri"/>
                <a:cs typeface="Calibri"/>
              </a:rPr>
              <a:t>Policy_Sales_Channel</a:t>
            </a:r>
            <a:r>
              <a:rPr lang="en-US" sz="1400" dirty="0">
                <a:latin typeface="Lucida Console"/>
                <a:ea typeface="Calibri"/>
                <a:cs typeface="Calibri"/>
              </a:rPr>
              <a:t> - 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>
                <a:latin typeface="Lucida Console"/>
                <a:ea typeface="Calibri"/>
                <a:cs typeface="Calibri"/>
              </a:rPr>
              <a:t>    Vintage - </a:t>
            </a:r>
            <a:r>
              <a:rPr lang="en-US" sz="1400" dirty="0" err="1">
                <a:latin typeface="Lucida Console"/>
                <a:ea typeface="Calibri"/>
                <a:cs typeface="Calibri"/>
              </a:rPr>
              <a:t>Driving_License</a:t>
            </a:r>
            <a:r>
              <a:rPr lang="en-US" sz="1400" dirty="0">
                <a:latin typeface="Lucida Console"/>
                <a:ea typeface="Calibri"/>
                <a:cs typeface="Calibri"/>
              </a:rPr>
              <a:t> + Age * </a:t>
            </a:r>
            <a:r>
              <a:rPr lang="en-US" sz="1400" dirty="0" err="1">
                <a:latin typeface="Lucida Console"/>
                <a:ea typeface="Calibri"/>
                <a:cs typeface="Calibri"/>
              </a:rPr>
              <a:t>Vehicle_Age</a:t>
            </a:r>
            <a:r>
              <a:rPr lang="en-US" sz="1400" dirty="0">
                <a:latin typeface="Lucida Console"/>
                <a:ea typeface="Calibri"/>
                <a:cs typeface="Calibri"/>
              </a:rPr>
              <a:t> + </a:t>
            </a:r>
            <a:r>
              <a:rPr lang="en-US" sz="1400" dirty="0" err="1">
                <a:latin typeface="Lucida Console"/>
                <a:ea typeface="Calibri"/>
                <a:cs typeface="Calibri"/>
              </a:rPr>
              <a:t>Previously_Insured</a:t>
            </a:r>
            <a:r>
              <a:rPr lang="en-US" sz="1400" dirty="0">
                <a:latin typeface="Lucida Console"/>
                <a:ea typeface="Calibri"/>
                <a:cs typeface="Calibri"/>
              </a:rPr>
              <a:t> * 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>
                <a:latin typeface="Lucida Console"/>
                <a:ea typeface="Calibri"/>
                <a:cs typeface="Calibri"/>
              </a:rPr>
              <a:t>    </a:t>
            </a:r>
            <a:r>
              <a:rPr lang="en-US" sz="1400" dirty="0" err="1">
                <a:latin typeface="Lucida Console"/>
                <a:ea typeface="Calibri"/>
                <a:cs typeface="Calibri"/>
              </a:rPr>
              <a:t>Vehicle_Damage</a:t>
            </a:r>
            <a:r>
              <a:rPr lang="en-US" sz="1400" dirty="0">
                <a:latin typeface="Lucida Console"/>
                <a:ea typeface="Calibri"/>
                <a:cs typeface="Calibri"/>
              </a:rPr>
              <a:t>, data = </a:t>
            </a:r>
            <a:r>
              <a:rPr lang="en-US" sz="1400" dirty="0" err="1">
                <a:latin typeface="Lucida Console"/>
                <a:ea typeface="Calibri"/>
                <a:cs typeface="Calibri"/>
              </a:rPr>
              <a:t>data_clean</a:t>
            </a:r>
            <a:r>
              <a:rPr lang="en-US" sz="1400" dirty="0">
                <a:latin typeface="Lucida Console"/>
                <a:ea typeface="Calibri"/>
                <a:cs typeface="Calibri"/>
              </a:rPr>
              <a:t>)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>
                <a:latin typeface="Lucida Console"/>
                <a:ea typeface="Calibri"/>
                <a:cs typeface="Calibri"/>
              </a:rPr>
              <a:t>Residuals: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>
                <a:latin typeface="Lucida Console"/>
                <a:ea typeface="Calibri"/>
                <a:cs typeface="Calibri"/>
              </a:rPr>
              <a:t>   Min     1Q Median     3Q    Max 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>
                <a:latin typeface="Lucida Console"/>
                <a:ea typeface="Calibri"/>
                <a:cs typeface="Calibri"/>
              </a:rPr>
              <a:t>-37967  -4625   1838   8029  49265 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>
                <a:latin typeface="Lucida Console"/>
                <a:ea typeface="Calibri"/>
                <a:cs typeface="Calibri"/>
              </a:rPr>
              <a:t>Coefficients: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>
                <a:latin typeface="Lucida Console"/>
                <a:ea typeface="Calibri"/>
                <a:cs typeface="Calibri"/>
              </a:rPr>
              <a:t>                                      Estimate Std. Error t value </a:t>
            </a:r>
            <a:r>
              <a:rPr lang="en-US" sz="1400" dirty="0" err="1">
                <a:latin typeface="Lucida Console"/>
                <a:ea typeface="Calibri"/>
                <a:cs typeface="Calibri"/>
              </a:rPr>
              <a:t>Pr</a:t>
            </a:r>
            <a:r>
              <a:rPr lang="en-US" sz="1400" dirty="0">
                <a:latin typeface="Lucida Console"/>
                <a:ea typeface="Calibri"/>
                <a:cs typeface="Calibri"/>
              </a:rPr>
              <a:t>(&gt;|t|)    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>
                <a:latin typeface="Lucida Console"/>
                <a:ea typeface="Calibri"/>
                <a:cs typeface="Calibri"/>
              </a:rPr>
              <a:t>(Intercept)                           13533.67     661.36  20.463  &lt; 2e-16 ***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 err="1">
                <a:latin typeface="Lucida Console"/>
                <a:ea typeface="Calibri"/>
                <a:cs typeface="Calibri"/>
              </a:rPr>
              <a:t>GenderMale</a:t>
            </a:r>
            <a:r>
              <a:rPr lang="en-US" sz="1400" dirty="0">
                <a:latin typeface="Lucida Console"/>
                <a:ea typeface="Calibri"/>
                <a:cs typeface="Calibri"/>
              </a:rPr>
              <a:t>                              222.21      75.71   2.935  0.00334 ** 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b="1" dirty="0">
                <a:latin typeface="Lucida Console"/>
                <a:ea typeface="Calibri"/>
                <a:cs typeface="Calibri"/>
              </a:rPr>
              <a:t>Age  </a:t>
            </a:r>
            <a:r>
              <a:rPr lang="en-US" sz="1400" dirty="0">
                <a:latin typeface="Lucida Console"/>
                <a:ea typeface="Calibri"/>
                <a:cs typeface="Calibri"/>
              </a:rPr>
              <a:t>                                  </a:t>
            </a:r>
            <a:r>
              <a:rPr lang="en-US" sz="1400" b="1" dirty="0">
                <a:latin typeface="Lucida Console"/>
                <a:ea typeface="Calibri"/>
                <a:cs typeface="Calibri"/>
              </a:rPr>
              <a:t>-433.58 </a:t>
            </a:r>
            <a:r>
              <a:rPr lang="en-US" sz="1400" dirty="0">
                <a:latin typeface="Lucida Console"/>
                <a:ea typeface="Calibri"/>
                <a:cs typeface="Calibri"/>
              </a:rPr>
              <a:t>     15.70 -27.613  &lt; 2e-16 ***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>
                <a:latin typeface="Lucida Console"/>
                <a:ea typeface="Calibri"/>
                <a:cs typeface="Calibri"/>
              </a:rPr>
              <a:t>Region_Code1                           -796.35     854.87  -0.932  0.35157       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>
                <a:latin typeface="Lucida Console"/>
                <a:ea typeface="Calibri"/>
                <a:cs typeface="Calibri"/>
              </a:rPr>
              <a:t>..........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latin typeface="Lucida Console"/>
                <a:ea typeface="Calibri"/>
                <a:cs typeface="Calibri"/>
              </a:rPr>
              <a:t>Region_Code52                         23228.79    1477.38  15.723  &lt; 2e-16 ***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 err="1">
                <a:latin typeface="Lucida Console"/>
                <a:ea typeface="Calibri"/>
                <a:cs typeface="Calibri"/>
              </a:rPr>
              <a:t>Previously_Insured</a:t>
            </a:r>
            <a:r>
              <a:rPr lang="en-US" sz="1400" dirty="0">
                <a:latin typeface="Lucida Console"/>
                <a:ea typeface="Calibri"/>
                <a:cs typeface="Calibri"/>
              </a:rPr>
              <a:t>                     2952.52     158.97  18.573  &lt; 2e-16 ***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 err="1">
                <a:latin typeface="Lucida Console"/>
                <a:ea typeface="Calibri"/>
                <a:cs typeface="Calibri"/>
              </a:rPr>
              <a:t>Vehicle_Age</a:t>
            </a:r>
            <a:r>
              <a:rPr lang="en-US" sz="1400" dirty="0">
                <a:latin typeface="Lucida Console"/>
                <a:ea typeface="Calibri"/>
                <a:cs typeface="Calibri"/>
              </a:rPr>
              <a:t>&gt; 2 Years                 -13884.24    1015.81 -13.668  &lt; 2e-16 ***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>
                <a:latin typeface="Lucida Console"/>
                <a:ea typeface="Calibri"/>
                <a:cs typeface="Calibri"/>
              </a:rPr>
              <a:t>Vehicle_Age1-2 Year                  -18231.97     452.37 -40.303  &lt; 2e-16 ***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 err="1">
                <a:latin typeface="Lucida Console"/>
                <a:ea typeface="Calibri"/>
                <a:cs typeface="Calibri"/>
              </a:rPr>
              <a:t>Vehicle_DamageYes</a:t>
            </a:r>
            <a:r>
              <a:rPr lang="en-US" sz="1400" dirty="0">
                <a:latin typeface="Lucida Console"/>
                <a:ea typeface="Calibri"/>
                <a:cs typeface="Calibri"/>
              </a:rPr>
              <a:t>                      1854.50     158.76  11.681  &lt; 2e-16 ***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b="1" dirty="0" err="1">
                <a:latin typeface="Lucida Console"/>
                <a:ea typeface="Calibri"/>
                <a:cs typeface="Calibri"/>
              </a:rPr>
              <a:t>Age:Vehicle_Age</a:t>
            </a:r>
            <a:r>
              <a:rPr lang="en-US" sz="1400" b="1" dirty="0">
                <a:latin typeface="Lucida Console"/>
                <a:ea typeface="Calibri"/>
                <a:cs typeface="Calibri"/>
              </a:rPr>
              <a:t>&gt; 2 Years                501.29</a:t>
            </a:r>
            <a:r>
              <a:rPr lang="en-US" sz="1400" dirty="0">
                <a:latin typeface="Lucida Console"/>
                <a:ea typeface="Calibri"/>
                <a:cs typeface="Calibri"/>
              </a:rPr>
              <a:t>      22.91  21.877  &lt; 2e-16 ***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b="1" dirty="0">
                <a:latin typeface="Lucida Console"/>
                <a:ea typeface="Calibri"/>
                <a:cs typeface="Calibri"/>
              </a:rPr>
              <a:t>Age:Vehicle_Age1-2 Year                 550.81</a:t>
            </a:r>
            <a:r>
              <a:rPr lang="en-US" sz="1400" dirty="0">
                <a:latin typeface="Lucida Console"/>
                <a:ea typeface="Calibri"/>
                <a:cs typeface="Calibri"/>
              </a:rPr>
              <a:t>      16.26  33.875  &lt; 2e-16 ***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b="1" dirty="0" err="1">
                <a:latin typeface="Lucida Console"/>
                <a:ea typeface="Calibri"/>
                <a:cs typeface="Calibri"/>
              </a:rPr>
              <a:t>Previously_Insured:Vehicle_DamageYes</a:t>
            </a:r>
            <a:r>
              <a:rPr lang="en-US" sz="1400" b="1" dirty="0">
                <a:latin typeface="Lucida Console"/>
                <a:ea typeface="Calibri"/>
                <a:cs typeface="Calibri"/>
              </a:rPr>
              <a:t>  -5610.75 </a:t>
            </a:r>
            <a:r>
              <a:rPr lang="en-US" sz="1400" dirty="0">
                <a:latin typeface="Lucida Console"/>
                <a:ea typeface="Calibri"/>
                <a:cs typeface="Calibri"/>
              </a:rPr>
              <a:t>    285.08 -19.681  &lt; 2e-16 ***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>
                <a:latin typeface="Lucida Console"/>
                <a:ea typeface="Calibri"/>
                <a:cs typeface="Calibri"/>
              </a:rPr>
              <a:t>---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 err="1">
                <a:latin typeface="Lucida Console"/>
                <a:ea typeface="Calibri"/>
                <a:cs typeface="Calibri"/>
              </a:rPr>
              <a:t>Signif</a:t>
            </a:r>
            <a:r>
              <a:rPr lang="en-US" sz="1400" dirty="0">
                <a:latin typeface="Lucida Console"/>
                <a:ea typeface="Calibri"/>
                <a:cs typeface="Calibri"/>
              </a:rPr>
              <a:t>. codes:  0 ‘***’ 0.001 ‘**’ 0.01 ‘*’ 0.05 ‘.’ 0.1 ‘ ’ 1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>
                <a:latin typeface="Lucida Console"/>
                <a:ea typeface="Calibri"/>
                <a:cs typeface="Calibri"/>
              </a:rPr>
              <a:t>Residual standard error: 13030 on 123336 degrees of freedom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>
                <a:latin typeface="Lucida Console"/>
                <a:ea typeface="Calibri"/>
                <a:cs typeface="Calibri"/>
              </a:rPr>
              <a:t>Multiple R-squared:  0.2199, Adjusted R-squared:  0.2195 </a:t>
            </a:r>
            <a:br>
              <a:rPr lang="en-US" sz="1400" dirty="0">
                <a:latin typeface="Lucida Console"/>
                <a:ea typeface="Calibri"/>
                <a:cs typeface="Calibri"/>
              </a:rPr>
            </a:br>
            <a:r>
              <a:rPr lang="en-US" sz="1400" dirty="0">
                <a:latin typeface="Lucida Console"/>
                <a:ea typeface="Calibri"/>
                <a:cs typeface="Calibri"/>
              </a:rPr>
              <a:t>F-statistic:   570 on 61 and 123336 DF,  p-value: &lt; 2.2e-16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dirty="0">
              <a:latin typeface="Lucida Console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72E541-D0C9-13D9-C72D-49A2DD8A8AA5}"/>
              </a:ext>
            </a:extLst>
          </p:cNvPr>
          <p:cNvSpPr txBox="1"/>
          <p:nvPr/>
        </p:nvSpPr>
        <p:spPr>
          <a:xfrm>
            <a:off x="0" y="13168"/>
            <a:ext cx="3541926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dirty="0">
                <a:latin typeface="Aharoni"/>
                <a:ea typeface="Calibri"/>
                <a:cs typeface="Calibri"/>
              </a:rPr>
              <a:t>Regression </a:t>
            </a:r>
          </a:p>
          <a:p>
            <a:r>
              <a:rPr lang="en-US" sz="4400" dirty="0">
                <a:latin typeface="Aharoni"/>
                <a:ea typeface="Calibri"/>
                <a:cs typeface="Calibri"/>
              </a:rPr>
              <a:t>Results of</a:t>
            </a:r>
          </a:p>
          <a:p>
            <a:r>
              <a:rPr lang="en-US" sz="4400" dirty="0">
                <a:latin typeface="Aharoni"/>
                <a:ea typeface="Calibri"/>
                <a:cs typeface="Calibri"/>
              </a:rPr>
              <a:t>Model </a:t>
            </a:r>
            <a:r>
              <a:rPr lang="en-US" sz="4400" b="1" dirty="0">
                <a:latin typeface="Arial Black" panose="020B0604020202020204" pitchFamily="34" charset="0"/>
                <a:ea typeface="Calibri"/>
                <a:cs typeface="Arial Black" panose="020B0604020202020204" pitchFamily="34" charset="0"/>
              </a:rPr>
              <a:t>3</a:t>
            </a:r>
          </a:p>
        </p:txBody>
      </p:sp>
      <p:pic>
        <p:nvPicPr>
          <p:cNvPr id="7" name="Graphic 6" descr="Arrow: Slight curve with solid fill">
            <a:extLst>
              <a:ext uri="{FF2B5EF4-FFF2-40B4-BE49-F238E27FC236}">
                <a16:creationId xmlns:a16="http://schemas.microsoft.com/office/drawing/2014/main" id="{5E953383-58E9-EE53-B1D3-98B4053481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639" y="1985269"/>
            <a:ext cx="997788" cy="914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A233AB-7D2D-A8E1-8EF0-3BCE7CE06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23692"/>
            <a:ext cx="2559155" cy="1834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154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A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9F92ED-1D4A-861F-903A-EB07DBC29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23810"/>
            <a:ext cx="2666082" cy="11341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9812AB-EBBA-13FE-1DCF-384392B60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299" y="6222560"/>
            <a:ext cx="1603697" cy="6370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EFFA8D-80EF-D235-6A04-C9AC43FDACC1}"/>
              </a:ext>
            </a:extLst>
          </p:cNvPr>
          <p:cNvSpPr txBox="1"/>
          <p:nvPr/>
        </p:nvSpPr>
        <p:spPr>
          <a:xfrm>
            <a:off x="473718" y="48308"/>
            <a:ext cx="7822556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dirty="0">
                <a:latin typeface="Aharoni"/>
                <a:ea typeface="+mn-lt"/>
                <a:cs typeface="+mn-lt"/>
              </a:rPr>
              <a:t>Model </a:t>
            </a:r>
            <a:r>
              <a:rPr lang="en-US" sz="4400" dirty="0">
                <a:latin typeface="Arial Black"/>
                <a:ea typeface="+mn-lt"/>
                <a:cs typeface="+mn-lt"/>
              </a:rPr>
              <a:t>3</a:t>
            </a:r>
            <a:r>
              <a:rPr lang="en-US" sz="4400" dirty="0">
                <a:latin typeface="Aharoni"/>
                <a:ea typeface="+mn-lt"/>
                <a:cs typeface="+mn-lt"/>
              </a:rPr>
              <a:t> Analysis Highlights</a:t>
            </a:r>
            <a:endParaRPr lang="en-US" sz="4400" dirty="0">
              <a:latin typeface="Aharoni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105564D-B451-6B34-3005-6DCD3488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718" y="1253331"/>
            <a:ext cx="11509276" cy="4351338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>
                <a:ea typeface="+mn-lt"/>
                <a:cs typeface="+mn-lt"/>
              </a:rPr>
              <a:t>Model 3 introduces interaction terms to capture </a:t>
            </a:r>
            <a:r>
              <a:rPr lang="en-US" b="1" dirty="0">
                <a:ea typeface="+mn-lt"/>
                <a:cs typeface="+mn-lt"/>
              </a:rPr>
              <a:t>non-linear relationships</a:t>
            </a:r>
            <a:r>
              <a:rPr lang="en-US" dirty="0">
                <a:ea typeface="+mn-lt"/>
                <a:cs typeface="+mn-lt"/>
              </a:rPr>
              <a:t> and potential correlations between variables.</a:t>
            </a:r>
            <a:endParaRPr lang="en-US" dirty="0">
              <a:ea typeface="+mn-lt"/>
              <a:cs typeface="Calibri" panose="020F0502020204030204"/>
            </a:endParaRPr>
          </a:p>
          <a:p>
            <a:pPr>
              <a:buFont typeface="Wingdings" pitchFamily="2" charset="2"/>
              <a:buChar char="Ø"/>
            </a:pPr>
            <a:r>
              <a:rPr lang="en-US" dirty="0">
                <a:ea typeface="+mn-lt"/>
                <a:cs typeface="+mn-lt"/>
              </a:rPr>
              <a:t>Interaction terms such as </a:t>
            </a:r>
            <a:r>
              <a:rPr lang="en-US" b="1" dirty="0">
                <a:ea typeface="+mn-lt"/>
                <a:cs typeface="+mn-lt"/>
              </a:rPr>
              <a:t>'</a:t>
            </a:r>
            <a:r>
              <a:rPr lang="en-US" b="1" dirty="0" err="1">
                <a:ea typeface="+mn-lt"/>
                <a:cs typeface="+mn-lt"/>
              </a:rPr>
              <a:t>Age:Vehicle_Age</a:t>
            </a:r>
            <a:r>
              <a:rPr lang="en-US" b="1" dirty="0">
                <a:ea typeface="+mn-lt"/>
                <a:cs typeface="+mn-lt"/>
              </a:rPr>
              <a:t>' and '</a:t>
            </a:r>
            <a:r>
              <a:rPr lang="en-US" b="1" dirty="0" err="1">
                <a:ea typeface="+mn-lt"/>
                <a:cs typeface="+mn-lt"/>
              </a:rPr>
              <a:t>Previously_Insured:Vehicle_Damage</a:t>
            </a:r>
            <a:r>
              <a:rPr lang="en-US" b="1" dirty="0">
                <a:ea typeface="+mn-lt"/>
                <a:cs typeface="+mn-lt"/>
              </a:rPr>
              <a:t>'</a:t>
            </a:r>
            <a:r>
              <a:rPr lang="en-US" dirty="0">
                <a:ea typeface="+mn-lt"/>
                <a:cs typeface="+mn-lt"/>
              </a:rPr>
              <a:t> encapsulate nuanced effects.</a:t>
            </a: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>
                <a:ea typeface="+mn-lt"/>
                <a:cs typeface="+mn-lt"/>
              </a:rPr>
              <a:t>Model 3 exhibits a marginally lower </a:t>
            </a:r>
            <a:r>
              <a:rPr lang="en-US" b="1" dirty="0">
                <a:ea typeface="+mn-lt"/>
                <a:cs typeface="+mn-lt"/>
              </a:rPr>
              <a:t>Residual Standard Error (13030)</a:t>
            </a:r>
            <a:r>
              <a:rPr lang="en-US" dirty="0">
                <a:ea typeface="+mn-lt"/>
                <a:cs typeface="+mn-lt"/>
              </a:rPr>
              <a:t> than Model 2 (13110), hinting at a potentially better fit.</a:t>
            </a: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>
                <a:ea typeface="+mn-lt"/>
                <a:cs typeface="+mn-lt"/>
              </a:rPr>
              <a:t>The </a:t>
            </a:r>
            <a:r>
              <a:rPr lang="en-US" b="1" dirty="0">
                <a:ea typeface="+mn-lt"/>
                <a:cs typeface="+mn-lt"/>
              </a:rPr>
              <a:t>Adjusted R-squared</a:t>
            </a:r>
            <a:r>
              <a:rPr lang="en-US" dirty="0">
                <a:ea typeface="+mn-lt"/>
                <a:cs typeface="+mn-lt"/>
              </a:rPr>
              <a:t> in Model 3 (0.2195) slightly surpasses Model 2 (0.2099), indicating enhanced explanatory capability.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199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A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0EEC-C783-A7A0-997B-C1F64476D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714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sz="1200">
              <a:solidFill>
                <a:srgbClr val="0D0D0D"/>
              </a:solidFill>
              <a:ea typeface="+mn-lt"/>
              <a:cs typeface="Calibri"/>
            </a:endParaRPr>
          </a:p>
          <a:p>
            <a:pPr>
              <a:buFont typeface="Wingdings" panose="020B0604020202020204" pitchFamily="34" charset="0"/>
              <a:buChar char="Ø"/>
            </a:pPr>
            <a:endParaRPr lang="en-US">
              <a:solidFill>
                <a:srgbClr val="0D0D0D"/>
              </a:solidFill>
              <a:latin typeface="Calibri Light"/>
              <a:cs typeface="Calibri" panose="020F0502020204030204"/>
            </a:endParaRPr>
          </a:p>
          <a:p>
            <a:pPr>
              <a:buFont typeface="Wingdings" panose="020B0604020202020204" pitchFamily="34" charset="0"/>
              <a:buChar char="Ø"/>
            </a:pPr>
            <a:endParaRPr lang="en-US">
              <a:solidFill>
                <a:srgbClr val="0D0D0D"/>
              </a:solidFill>
              <a:cs typeface="Calibri"/>
            </a:endParaRPr>
          </a:p>
          <a:p>
            <a:pPr>
              <a:buFont typeface="Wingdings" panose="020B0604020202020204" pitchFamily="34" charset="0"/>
              <a:buChar char="Ø"/>
            </a:pPr>
            <a:endParaRPr lang="en-US" sz="1200">
              <a:solidFill>
                <a:srgbClr val="0D0D0D"/>
              </a:solidFill>
              <a:ea typeface="Calibri"/>
              <a:cs typeface="Calibri"/>
            </a:endParaRPr>
          </a:p>
          <a:p>
            <a:pPr>
              <a:buFont typeface="Wingdings" panose="020B0604020202020204" pitchFamily="34" charset="0"/>
              <a:buChar char="Ø"/>
            </a:pPr>
            <a:endParaRPr lang="en-US" sz="1100">
              <a:ea typeface="Calibri"/>
              <a:cs typeface="Calibri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C8C9918-5DCB-F538-E146-4803D36B4E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711974"/>
              </p:ext>
            </p:extLst>
          </p:nvPr>
        </p:nvGraphicFramePr>
        <p:xfrm>
          <a:off x="497421" y="452066"/>
          <a:ext cx="11197158" cy="595386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17580">
                  <a:extLst>
                    <a:ext uri="{9D8B030D-6E8A-4147-A177-3AD203B41FA5}">
                      <a16:colId xmlns:a16="http://schemas.microsoft.com/office/drawing/2014/main" val="1307889802"/>
                    </a:ext>
                  </a:extLst>
                </a:gridCol>
                <a:gridCol w="2919735">
                  <a:extLst>
                    <a:ext uri="{9D8B030D-6E8A-4147-A177-3AD203B41FA5}">
                      <a16:colId xmlns:a16="http://schemas.microsoft.com/office/drawing/2014/main" val="3795875875"/>
                    </a:ext>
                  </a:extLst>
                </a:gridCol>
                <a:gridCol w="2071076">
                  <a:extLst>
                    <a:ext uri="{9D8B030D-6E8A-4147-A177-3AD203B41FA5}">
                      <a16:colId xmlns:a16="http://schemas.microsoft.com/office/drawing/2014/main" val="2909666084"/>
                    </a:ext>
                  </a:extLst>
                </a:gridCol>
                <a:gridCol w="4388767">
                  <a:extLst>
                    <a:ext uri="{9D8B030D-6E8A-4147-A177-3AD203B41FA5}">
                      <a16:colId xmlns:a16="http://schemas.microsoft.com/office/drawing/2014/main" val="1903312022"/>
                    </a:ext>
                  </a:extLst>
                </a:gridCol>
              </a:tblGrid>
              <a:tr h="1168757">
                <a:tc>
                  <a:txBody>
                    <a:bodyPr/>
                    <a:lstStyle/>
                    <a:p>
                      <a:pPr algn="just" fontAlgn="base"/>
                      <a:r>
                        <a:rPr lang="en-US" sz="2800" b="1" dirty="0">
                          <a:solidFill>
                            <a:srgbClr val="FCA51C"/>
                          </a:solidFill>
                          <a:effectLst/>
                          <a:latin typeface="Segoe UI"/>
                        </a:rPr>
                        <a:t>Model</a:t>
                      </a: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/>
                      <a:r>
                        <a:rPr lang="en-US" sz="2800" b="1" dirty="0">
                          <a:solidFill>
                            <a:srgbClr val="FCA51C"/>
                          </a:solidFill>
                          <a:effectLst/>
                          <a:latin typeface="Segoe UI"/>
                        </a:rPr>
                        <a:t>Residual Standard Error</a:t>
                      </a: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/>
                      <a:r>
                        <a:rPr lang="en-US" sz="2800" b="1" dirty="0">
                          <a:solidFill>
                            <a:srgbClr val="FCA51C"/>
                          </a:solidFill>
                          <a:effectLst/>
                          <a:latin typeface="Segoe UI"/>
                        </a:rPr>
                        <a:t>Adjusted R-squared</a:t>
                      </a: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/>
                      <a:r>
                        <a:rPr lang="en-US" sz="2800" b="1" dirty="0">
                          <a:solidFill>
                            <a:srgbClr val="FCA51C"/>
                          </a:solidFill>
                          <a:effectLst/>
                          <a:latin typeface="Segoe UI"/>
                        </a:rPr>
                        <a:t>Explanation</a:t>
                      </a: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348519"/>
                  </a:ext>
                </a:extLst>
              </a:tr>
              <a:tr h="1168757">
                <a:tc>
                  <a:txBody>
                    <a:bodyPr/>
                    <a:lstStyle/>
                    <a:p>
                      <a:pPr algn="just" fontAlgn="base"/>
                      <a:r>
                        <a:rPr lang="en-US" sz="2800" b="1">
                          <a:solidFill>
                            <a:srgbClr val="0D0D0D"/>
                          </a:solidFill>
                          <a:effectLst/>
                          <a:latin typeface="Segoe UI"/>
                        </a:rPr>
                        <a:t>Model 1</a:t>
                      </a:r>
                      <a:endParaRPr lang="en-US" sz="2800" b="1">
                        <a:solidFill>
                          <a:srgbClr val="FFFFFF"/>
                        </a:solidFill>
                        <a:effectLst/>
                        <a:latin typeface="Segoe UI"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base"/>
                      <a:r>
                        <a:rPr lang="en-US" sz="2800">
                          <a:solidFill>
                            <a:srgbClr val="0D0D0D"/>
                          </a:solidFill>
                          <a:effectLst/>
                          <a:latin typeface="Segoe UI"/>
                        </a:rPr>
                        <a:t>12430</a:t>
                      </a:r>
                      <a:endParaRPr lang="en-US" sz="2800">
                        <a:effectLst/>
                        <a:latin typeface="Segoe UI"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base"/>
                      <a:r>
                        <a:rPr lang="en-US" sz="2800">
                          <a:solidFill>
                            <a:srgbClr val="0D0D0D"/>
                          </a:solidFill>
                          <a:effectLst/>
                          <a:latin typeface="Segoe UI"/>
                        </a:rPr>
                        <a:t>0.2897</a:t>
                      </a:r>
                      <a:endParaRPr lang="en-US" sz="2800">
                        <a:effectLst/>
                        <a:latin typeface="Segoe UI"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800" dirty="0">
                          <a:effectLst/>
                          <a:latin typeface="Calibri"/>
                        </a:rPr>
                        <a:t>Has the </a:t>
                      </a:r>
                      <a:r>
                        <a:rPr lang="en-US" sz="2800" b="1" dirty="0">
                          <a:effectLst/>
                          <a:latin typeface="Calibri"/>
                        </a:rPr>
                        <a:t>lowest error</a:t>
                      </a:r>
                      <a:r>
                        <a:rPr lang="en-US" sz="2800" dirty="0">
                          <a:effectLst/>
                          <a:latin typeface="Calibri"/>
                        </a:rPr>
                        <a:t> and </a:t>
                      </a:r>
                      <a:r>
                        <a:rPr lang="en-US" sz="2800" b="1" dirty="0">
                          <a:effectLst/>
                          <a:latin typeface="Calibri"/>
                        </a:rPr>
                        <a:t>highest explanatory power</a:t>
                      </a:r>
                      <a:r>
                        <a:rPr lang="en-US" sz="2800" dirty="0"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5093825"/>
                  </a:ext>
                </a:extLst>
              </a:tr>
              <a:tr h="1317171">
                <a:tc>
                  <a:txBody>
                    <a:bodyPr/>
                    <a:lstStyle/>
                    <a:p>
                      <a:pPr algn="just" fontAlgn="base"/>
                      <a:r>
                        <a:rPr lang="en-US" sz="2800" b="1">
                          <a:solidFill>
                            <a:srgbClr val="0D0D0D"/>
                          </a:solidFill>
                          <a:effectLst/>
                          <a:latin typeface="Segoe UI"/>
                        </a:rPr>
                        <a:t>Model 2</a:t>
                      </a:r>
                      <a:endParaRPr lang="en-US" sz="2800" b="1">
                        <a:solidFill>
                          <a:srgbClr val="FFFFFF"/>
                        </a:solidFill>
                        <a:effectLst/>
                        <a:latin typeface="Segoe UI"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base"/>
                      <a:r>
                        <a:rPr lang="en-US" sz="2800">
                          <a:solidFill>
                            <a:srgbClr val="0D0D0D"/>
                          </a:solidFill>
                          <a:effectLst/>
                          <a:latin typeface="Segoe UI"/>
                        </a:rPr>
                        <a:t>13110</a:t>
                      </a:r>
                      <a:endParaRPr lang="en-US" sz="2800">
                        <a:effectLst/>
                        <a:latin typeface="Segoe UI"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base"/>
                      <a:r>
                        <a:rPr lang="en-US" sz="2800">
                          <a:solidFill>
                            <a:srgbClr val="0D0D0D"/>
                          </a:solidFill>
                          <a:effectLst/>
                          <a:latin typeface="Segoe UI"/>
                        </a:rPr>
                        <a:t>0.2099</a:t>
                      </a:r>
                      <a:endParaRPr lang="en-US" sz="2800">
                        <a:effectLst/>
                        <a:latin typeface="Segoe UI"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800" dirty="0">
                          <a:effectLst/>
                          <a:latin typeface="Calibri"/>
                        </a:rPr>
                        <a:t>Has </a:t>
                      </a:r>
                      <a:r>
                        <a:rPr lang="en-US" sz="2800" b="1" dirty="0">
                          <a:effectLst/>
                          <a:latin typeface="Calibri"/>
                        </a:rPr>
                        <a:t>higher error</a:t>
                      </a:r>
                      <a:r>
                        <a:rPr lang="en-US" sz="2800" dirty="0">
                          <a:effectLst/>
                          <a:latin typeface="Calibri"/>
                        </a:rPr>
                        <a:t> and </a:t>
                      </a:r>
                      <a:r>
                        <a:rPr lang="en-US" sz="2800" b="1" dirty="0">
                          <a:effectLst/>
                          <a:latin typeface="Calibri"/>
                        </a:rPr>
                        <a:t>lower explanatory power</a:t>
                      </a:r>
                      <a:r>
                        <a:rPr lang="en-US" sz="2800" dirty="0">
                          <a:effectLst/>
                          <a:latin typeface="Calibri"/>
                        </a:rPr>
                        <a:t> than Model 1.</a:t>
                      </a: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7819482"/>
                  </a:ext>
                </a:extLst>
              </a:tr>
              <a:tr h="2244754">
                <a:tc>
                  <a:txBody>
                    <a:bodyPr/>
                    <a:lstStyle/>
                    <a:p>
                      <a:pPr algn="just" fontAlgn="base"/>
                      <a:r>
                        <a:rPr lang="en-US" sz="2800" b="1">
                          <a:solidFill>
                            <a:srgbClr val="0D0D0D"/>
                          </a:solidFill>
                          <a:effectLst/>
                          <a:latin typeface="Segoe UI"/>
                        </a:rPr>
                        <a:t>Model 3</a:t>
                      </a:r>
                      <a:endParaRPr lang="en-US" sz="2800" b="1">
                        <a:solidFill>
                          <a:srgbClr val="FFFFFF"/>
                        </a:solidFill>
                        <a:effectLst/>
                        <a:latin typeface="Segoe UI"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base"/>
                      <a:r>
                        <a:rPr lang="en-US" sz="2800">
                          <a:solidFill>
                            <a:srgbClr val="0D0D0D"/>
                          </a:solidFill>
                          <a:effectLst/>
                          <a:latin typeface="Segoe UI"/>
                        </a:rPr>
                        <a:t>13030</a:t>
                      </a:r>
                      <a:endParaRPr lang="en-US" sz="2800">
                        <a:effectLst/>
                        <a:latin typeface="Segoe UI"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base"/>
                      <a:r>
                        <a:rPr lang="en-US" sz="2800" dirty="0">
                          <a:solidFill>
                            <a:srgbClr val="0D0D0D"/>
                          </a:solidFill>
                          <a:effectLst/>
                          <a:latin typeface="Segoe UI"/>
                        </a:rPr>
                        <a:t>0.2195</a:t>
                      </a:r>
                      <a:endParaRPr lang="en-US" sz="2800" dirty="0">
                        <a:effectLst/>
                        <a:latin typeface="Segoe UI"/>
                      </a:endParaRP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800" b="1" dirty="0">
                          <a:effectLst/>
                          <a:latin typeface="Calibri"/>
                        </a:rPr>
                        <a:t>Incorporates interaction terms</a:t>
                      </a:r>
                      <a:r>
                        <a:rPr lang="en-US" sz="2800" dirty="0">
                          <a:effectLst/>
                          <a:latin typeface="Calibri"/>
                        </a:rPr>
                        <a:t> to capture nuanced relationships, potentially </a:t>
                      </a:r>
                      <a:r>
                        <a:rPr lang="en-US" sz="2800" b="1" dirty="0">
                          <a:effectLst/>
                          <a:latin typeface="Calibri"/>
                        </a:rPr>
                        <a:t>improving predictive accuracy</a:t>
                      </a:r>
                      <a:r>
                        <a:rPr lang="en-US" sz="2800" dirty="0">
                          <a:effectLst/>
                          <a:latin typeface="Calibri"/>
                        </a:rPr>
                        <a:t>.</a:t>
                      </a:r>
                    </a:p>
                  </a:txBody>
                  <a:tcPr marL="68580" marR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135329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B1489623-9890-19D1-9DBB-B8F07EFA2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8847"/>
            <a:ext cx="2107387" cy="118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335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A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5F032-FDF0-6D52-3C6B-FC42633A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>
                <a:latin typeface="Aharoni"/>
                <a:ea typeface="Calibri Light"/>
                <a:cs typeface="Calibri Light"/>
              </a:rPr>
              <a:t>Residuals Plot of Model </a:t>
            </a:r>
            <a:r>
              <a:rPr lang="en-US" dirty="0">
                <a:latin typeface="Arial Black"/>
                <a:ea typeface="Calibri Light"/>
                <a:cs typeface="Calibri Light"/>
              </a:rPr>
              <a:t>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6810D8-B9AC-9955-E5A7-F3E5615B2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600" y="5175249"/>
            <a:ext cx="1574800" cy="16827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4F82E0-6B3A-C76F-6513-71C9EAD9A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5276" y="4811075"/>
            <a:ext cx="1574800" cy="1092718"/>
          </a:xfrm>
          <a:prstGeom prst="rect">
            <a:avLst/>
          </a:prstGeom>
        </p:spPr>
      </p:pic>
      <p:pic>
        <p:nvPicPr>
          <p:cNvPr id="8" name="Picture 7" descr="A graph showing the difference between residuals and filled values&#10;&#10;Description automatically generated">
            <a:extLst>
              <a:ext uri="{FF2B5EF4-FFF2-40B4-BE49-F238E27FC236}">
                <a16:creationId xmlns:a16="http://schemas.microsoft.com/office/drawing/2014/main" id="{BC29085D-8C60-0F24-215A-C830AADAFA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501431"/>
            <a:ext cx="7678048" cy="493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1618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A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925BA5-05B4-4C9B-27E2-529706D1C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26669"/>
            <a:ext cx="2781300" cy="1752600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E59FE7-52C4-5181-1230-3D7F28D7D97B}"/>
              </a:ext>
            </a:extLst>
          </p:cNvPr>
          <p:cNvSpPr>
            <a:spLocks noGrp="1"/>
          </p:cNvSpPr>
          <p:nvPr/>
        </p:nvSpPr>
        <p:spPr>
          <a:xfrm>
            <a:off x="3344090" y="185422"/>
            <a:ext cx="9796730" cy="59472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 fontAlgn="base">
              <a:buNone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Call:</a:t>
            </a:r>
            <a:r>
              <a:rPr lang="en-US" sz="1400" b="0" i="0" dirty="0">
                <a:effectLst/>
                <a:latin typeface="Lucida Console" panose="020B0609040504020204" pitchFamily="49" charset="0"/>
              </a:rPr>
              <a:t>​</a:t>
            </a:r>
            <a:br>
              <a:rPr lang="en-US" sz="1400" b="0" i="0" dirty="0">
                <a:effectLst/>
                <a:latin typeface="Lucida Console" panose="020B0609040504020204" pitchFamily="49" charset="0"/>
              </a:rPr>
            </a:b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lm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(formula =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Annual_Premium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~ . + I(Age^2) + sqrt(Age) - id - </a:t>
            </a:r>
            <a:r>
              <a:rPr lang="en-US" sz="1400" b="0" i="0" dirty="0">
                <a:effectLst/>
                <a:latin typeface="Lucida Console" panose="020B0609040504020204" pitchFamily="49" charset="0"/>
              </a:rPr>
              <a:t>​</a:t>
            </a:r>
            <a:br>
              <a:rPr lang="en-US" sz="1400" b="0" i="0" dirty="0">
                <a:effectLst/>
                <a:latin typeface="Lucida Console" panose="020B0609040504020204" pitchFamily="49" charset="0"/>
              </a:rPr>
            </a:b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  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Policy_Sales_Channel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- Vintage -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Driving_License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+ Age * </a:t>
            </a:r>
            <a:r>
              <a:rPr lang="en-US" sz="1400" b="0" i="0" dirty="0">
                <a:effectLst/>
                <a:latin typeface="Lucida Console" panose="020B0609040504020204" pitchFamily="49" charset="0"/>
              </a:rPr>
              <a:t>​</a:t>
            </a:r>
            <a:br>
              <a:rPr lang="en-US" sz="1400" b="0" i="0" dirty="0">
                <a:effectLst/>
                <a:latin typeface="Lucida Console" panose="020B0609040504020204" pitchFamily="49" charset="0"/>
              </a:rPr>
            </a:b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  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Vehicle_Age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+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Previously_Insured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*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Vehicle_Damage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, data =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data_clean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)</a:t>
            </a:r>
            <a:r>
              <a:rPr lang="en-US" sz="1400" b="0" i="0" dirty="0">
                <a:effectLst/>
                <a:latin typeface="Lucida Console" panose="020B0609040504020204" pitchFamily="49" charset="0"/>
              </a:rPr>
              <a:t>​</a:t>
            </a:r>
            <a:br>
              <a:rPr lang="en-US" sz="1400" b="0" i="0" dirty="0">
                <a:effectLst/>
                <a:latin typeface="Lucida Console" panose="020B0609040504020204" pitchFamily="49" charset="0"/>
              </a:rPr>
            </a:br>
            <a:r>
              <a:rPr lang="en-US" sz="1400" b="0" i="0" dirty="0">
                <a:effectLst/>
                <a:latin typeface="Lucida Console" panose="020B0609040504020204" pitchFamily="49" charset="0"/>
              </a:rPr>
              <a:t>​</a:t>
            </a:r>
            <a:br>
              <a:rPr lang="en-US" sz="1400" b="0" i="0" dirty="0">
                <a:effectLst/>
                <a:latin typeface="Lucida Console" panose="020B0609040504020204" pitchFamily="49" charset="0"/>
              </a:rPr>
            </a:b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Residuals:</a:t>
            </a:r>
            <a:r>
              <a:rPr lang="en-US" sz="1400" b="0" i="0" dirty="0">
                <a:effectLst/>
                <a:latin typeface="Lucida Console" panose="020B0609040504020204" pitchFamily="49" charset="0"/>
              </a:rPr>
              <a:t>​</a:t>
            </a:r>
            <a:br>
              <a:rPr lang="en-US" sz="1400" b="0" i="0" dirty="0">
                <a:effectLst/>
                <a:latin typeface="Lucida Console" panose="020B0609040504020204" pitchFamily="49" charset="0"/>
              </a:rPr>
            </a:b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  Min     1Q Median     3Q    Max </a:t>
            </a:r>
            <a:r>
              <a:rPr lang="en-US" sz="1400" b="0" i="0" dirty="0">
                <a:effectLst/>
                <a:latin typeface="Lucida Console" panose="020B0609040504020204" pitchFamily="49" charset="0"/>
              </a:rPr>
              <a:t>​</a:t>
            </a:r>
            <a:br>
              <a:rPr lang="en-US" sz="1400" b="0" i="0" dirty="0">
                <a:effectLst/>
                <a:latin typeface="Lucida Console" panose="020B0609040504020204" pitchFamily="49" charset="0"/>
              </a:rPr>
            </a:b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-37105  -4609   1808   7999  49163 </a:t>
            </a:r>
            <a:r>
              <a:rPr lang="en-US" sz="1400" b="0" i="0" dirty="0">
                <a:effectLst/>
                <a:latin typeface="Lucida Console" panose="020B0609040504020204" pitchFamily="49" charset="0"/>
              </a:rPr>
              <a:t>​</a:t>
            </a:r>
            <a:br>
              <a:rPr lang="en-US" sz="1400" b="0" i="0" dirty="0">
                <a:effectLst/>
                <a:latin typeface="Lucida Console" panose="020B0609040504020204" pitchFamily="49" charset="0"/>
              </a:rPr>
            </a:br>
            <a:r>
              <a:rPr lang="en-US" sz="1400" b="0" i="0" dirty="0">
                <a:effectLst/>
                <a:latin typeface="Lucida Console" panose="020B0609040504020204" pitchFamily="49" charset="0"/>
              </a:rPr>
              <a:t>​</a:t>
            </a:r>
            <a:br>
              <a:rPr lang="en-US" sz="1400" b="0" i="0" dirty="0">
                <a:effectLst/>
                <a:latin typeface="Lucida Console" panose="020B0609040504020204" pitchFamily="49" charset="0"/>
              </a:rPr>
            </a:b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Coefficients:</a:t>
            </a:r>
            <a:r>
              <a:rPr lang="en-US" sz="1400" b="0" i="0" dirty="0">
                <a:effectLst/>
                <a:latin typeface="Lucida Console" panose="020B0609040504020204" pitchFamily="49" charset="0"/>
              </a:rPr>
              <a:t>​</a:t>
            </a:r>
            <a:br>
              <a:rPr lang="en-US" sz="1400" b="0" i="0" dirty="0">
                <a:effectLst/>
                <a:latin typeface="Lucida Console" panose="020B0609040504020204" pitchFamily="49" charset="0"/>
              </a:rPr>
            </a:b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                                      Estimate Std. Error t value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Pr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(&gt;|t|)    </a:t>
            </a:r>
            <a:r>
              <a:rPr lang="en-US" sz="1400" b="0" i="0" dirty="0">
                <a:effectLst/>
                <a:latin typeface="Lucida Console" panose="020B0609040504020204" pitchFamily="49" charset="0"/>
              </a:rPr>
              <a:t>​</a:t>
            </a:r>
            <a:br>
              <a:rPr lang="en-US" sz="1400" b="0" i="0" dirty="0">
                <a:effectLst/>
                <a:latin typeface="Lucida Console" panose="020B0609040504020204" pitchFamily="49" charset="0"/>
              </a:rPr>
            </a:b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(Intercept)                          -44275.342   6866.249  -6.448 1.14e-10 ***</a:t>
            </a:r>
            <a:r>
              <a:rPr lang="en-US" sz="1400" b="0" i="0" dirty="0">
                <a:effectLst/>
                <a:latin typeface="Lucida Console" panose="020B0609040504020204" pitchFamily="49" charset="0"/>
              </a:rPr>
              <a:t>​</a:t>
            </a:r>
            <a:br>
              <a:rPr lang="en-US" sz="1400" b="0" i="0" dirty="0">
                <a:effectLst/>
                <a:latin typeface="Lucida Console" panose="020B0609040504020204" pitchFamily="49" charset="0"/>
              </a:rPr>
            </a:b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GenderMale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                             200.918     75.703   2.654  0.00795 ** </a:t>
            </a:r>
            <a:r>
              <a:rPr lang="en-US" sz="1400" b="0" i="0" dirty="0">
                <a:effectLst/>
                <a:latin typeface="Lucida Console" panose="020B0609040504020204" pitchFamily="49" charset="0"/>
              </a:rPr>
              <a:t>​</a:t>
            </a:r>
            <a:br>
              <a:rPr lang="en-US" sz="1400" b="0" i="0" dirty="0">
                <a:effectLst/>
                <a:latin typeface="Lucida Console" panose="020B0609040504020204" pitchFamily="49" charset="0"/>
              </a:rPr>
            </a:b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Age             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                     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-2963.742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   346.155  -8.562  &lt; 2e-16 ***</a:t>
            </a:r>
            <a:r>
              <a:rPr lang="en-US" sz="1400" b="0" i="0" dirty="0">
                <a:effectLst/>
                <a:latin typeface="Lucida Console" panose="020B0609040504020204" pitchFamily="49" charset="0"/>
              </a:rPr>
              <a:t>​</a:t>
            </a:r>
            <a:endParaRPr lang="en-US" sz="1400" b="0" i="0" dirty="0">
              <a:effectLst/>
            </a:endParaRPr>
          </a:p>
          <a:p>
            <a:pPr marL="0" indent="0" algn="l" rtl="0" fontAlgn="base"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I(Age^2) 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                               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5.401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     1.179   4.579 4.67e-06 ***</a:t>
            </a:r>
            <a:r>
              <a:rPr lang="en-US" sz="1400" b="0" i="0" dirty="0">
                <a:effectLst/>
                <a:latin typeface="Lucida Console" panose="020B0609040504020204" pitchFamily="49" charset="0"/>
              </a:rPr>
              <a:t>​</a:t>
            </a:r>
            <a:br>
              <a:rPr lang="en-US" sz="1400" b="0" i="0" dirty="0">
                <a:effectLst/>
                <a:latin typeface="Lucida Console" panose="020B0609040504020204" pitchFamily="49" charset="0"/>
              </a:rPr>
            </a:b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sqrt(Age) 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                           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23578.335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  2953.512   7.983 1.44e-15 ***</a:t>
            </a:r>
            <a:r>
              <a:rPr lang="en-US" sz="1400" b="0" i="0" dirty="0">
                <a:effectLst/>
                <a:latin typeface="Lucida Console" panose="020B0609040504020204" pitchFamily="49" charset="0"/>
              </a:rPr>
              <a:t>​</a:t>
            </a:r>
            <a:br>
              <a:rPr lang="en-US" sz="1400" b="0" i="0" dirty="0">
                <a:effectLst/>
                <a:latin typeface="Lucida Console" panose="020B0609040504020204" pitchFamily="49" charset="0"/>
              </a:rPr>
            </a:b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Region_Code1                           -725.189    854.037  -0.849  0.39581  </a:t>
            </a:r>
            <a:r>
              <a:rPr lang="en-US" sz="1400" b="0" i="0" dirty="0">
                <a:effectLst/>
                <a:latin typeface="Lucida Console" panose="020B0609040504020204" pitchFamily="49" charset="0"/>
              </a:rPr>
              <a:t>​</a:t>
            </a:r>
            <a:endParaRPr lang="en-US" sz="1400" b="0" i="0" dirty="0">
              <a:effectLst/>
            </a:endParaRPr>
          </a:p>
          <a:p>
            <a:pPr marL="0" indent="0" algn="l" rtl="0" fontAlgn="base">
              <a:buNone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......   </a:t>
            </a:r>
            <a:r>
              <a:rPr lang="en-US" sz="1400" b="0" i="0" dirty="0">
                <a:effectLst/>
                <a:latin typeface="Lucida Console" panose="020B0609040504020204" pitchFamily="49" charset="0"/>
              </a:rPr>
              <a:t>​</a:t>
            </a:r>
            <a:endParaRPr lang="en-US" sz="1400" b="0" i="0" dirty="0">
              <a:effectLst/>
            </a:endParaRPr>
          </a:p>
          <a:p>
            <a:pPr marL="0" indent="0" algn="l" rtl="0" fontAlgn="base">
              <a:buNone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Region_Code52                         23424.821   1475.854  15.872  &lt; 2e-16 ***</a:t>
            </a:r>
            <a:r>
              <a:rPr lang="en-US" sz="1400" b="0" i="0" dirty="0">
                <a:effectLst/>
                <a:latin typeface="Lucida Console" panose="020B0609040504020204" pitchFamily="49" charset="0"/>
              </a:rPr>
              <a:t>​</a:t>
            </a:r>
            <a:br>
              <a:rPr lang="en-US" sz="1400" b="0" i="0" dirty="0">
                <a:effectLst/>
                <a:latin typeface="Lucida Console" panose="020B0609040504020204" pitchFamily="49" charset="0"/>
              </a:rPr>
            </a:b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Previously_Insured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                    2836.293    159.141  17.823  &lt; 2e-16 ***</a:t>
            </a:r>
            <a:r>
              <a:rPr lang="en-US" sz="1400" b="0" i="0" dirty="0">
                <a:effectLst/>
                <a:latin typeface="Lucida Console" panose="020B0609040504020204" pitchFamily="49" charset="0"/>
              </a:rPr>
              <a:t>​</a:t>
            </a:r>
            <a:br>
              <a:rPr lang="en-US" sz="1400" b="0" i="0" dirty="0">
                <a:effectLst/>
                <a:latin typeface="Lucida Console" panose="020B0609040504020204" pitchFamily="49" charset="0"/>
              </a:rPr>
            </a:b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Vehicle_Age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&gt; 2 Years                 -26210.832   1276.044 -20.541  &lt; 2e-16 ***</a:t>
            </a:r>
            <a:r>
              <a:rPr lang="en-US" sz="1400" b="0" i="0" dirty="0">
                <a:effectLst/>
                <a:latin typeface="Lucida Console" panose="020B0609040504020204" pitchFamily="49" charset="0"/>
              </a:rPr>
              <a:t>​</a:t>
            </a:r>
            <a:br>
              <a:rPr lang="en-US" sz="1400" b="0" i="0" dirty="0">
                <a:effectLst/>
                <a:latin typeface="Lucida Console" panose="020B0609040504020204" pitchFamily="49" charset="0"/>
              </a:rPr>
            </a:b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Vehicle_Age1-2 Year                  -28642.767    822.066 -34.842  &lt; 2e-16 ***</a:t>
            </a:r>
            <a:r>
              <a:rPr lang="en-US" sz="1400" b="0" i="0" dirty="0">
                <a:effectLst/>
                <a:latin typeface="Lucida Console" panose="020B0609040504020204" pitchFamily="49" charset="0"/>
              </a:rPr>
              <a:t>​</a:t>
            </a:r>
            <a:br>
              <a:rPr lang="en-US" sz="1400" b="0" i="0" dirty="0">
                <a:effectLst/>
                <a:latin typeface="Lucida Console" panose="020B0609040504020204" pitchFamily="49" charset="0"/>
              </a:rPr>
            </a:b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Vehicle_DamageYes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                     1779.871    158.657  11.218  &lt; 2e-16 ***</a:t>
            </a:r>
            <a:r>
              <a:rPr lang="en-US" sz="1400" b="0" i="0" dirty="0">
                <a:effectLst/>
                <a:latin typeface="Lucida Console" panose="020B0609040504020204" pitchFamily="49" charset="0"/>
              </a:rPr>
              <a:t>​</a:t>
            </a:r>
            <a:br>
              <a:rPr lang="en-US" sz="1400" b="0" i="0" dirty="0">
                <a:effectLst/>
                <a:latin typeface="Lucida Console" panose="020B0609040504020204" pitchFamily="49" charset="0"/>
              </a:rPr>
            </a:b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Age:Vehicle_Age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&gt; 2 Years                834.263     31.674  26.339  &lt; 2e-16 ***</a:t>
            </a:r>
            <a:r>
              <a:rPr lang="en-US" sz="1400" b="0" i="0" dirty="0">
                <a:effectLst/>
                <a:latin typeface="Lucida Console" panose="020B0609040504020204" pitchFamily="49" charset="0"/>
              </a:rPr>
              <a:t>​</a:t>
            </a:r>
            <a:br>
              <a:rPr lang="en-US" sz="1400" b="0" i="0" dirty="0">
                <a:effectLst/>
                <a:latin typeface="Lucida Console" panose="020B0609040504020204" pitchFamily="49" charset="0"/>
              </a:rPr>
            </a:b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Age:Vehicle_Age1-2 Year                 849.564     26.226  32.394  &lt; 2e-16 ***</a:t>
            </a:r>
            <a:r>
              <a:rPr lang="en-US" sz="1400" b="0" i="0" dirty="0">
                <a:effectLst/>
                <a:latin typeface="Lucida Console" panose="020B0609040504020204" pitchFamily="49" charset="0"/>
              </a:rPr>
              <a:t>​</a:t>
            </a:r>
            <a:br>
              <a:rPr lang="en-US" sz="1400" b="0" i="0" dirty="0">
                <a:effectLst/>
                <a:latin typeface="Lucida Console" panose="020B0609040504020204" pitchFamily="49" charset="0"/>
              </a:rPr>
            </a:b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Previously_Insured:Vehicle_DamageYes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  -5328.707    285.353 -18.674  &lt; 2e-16 ***</a:t>
            </a:r>
            <a:r>
              <a:rPr lang="en-US" sz="1400" b="0" i="0" dirty="0">
                <a:effectLst/>
                <a:latin typeface="Lucida Console" panose="020B0609040504020204" pitchFamily="49" charset="0"/>
              </a:rPr>
              <a:t>​</a:t>
            </a:r>
            <a:br>
              <a:rPr lang="en-US" sz="1400" b="0" i="0" dirty="0">
                <a:effectLst/>
                <a:latin typeface="Lucida Console" panose="020B0609040504020204" pitchFamily="49" charset="0"/>
              </a:rPr>
            </a:b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---</a:t>
            </a:r>
            <a:r>
              <a:rPr lang="en-US" sz="1400" b="0" i="0" dirty="0">
                <a:effectLst/>
                <a:latin typeface="Lucida Console" panose="020B0609040504020204" pitchFamily="49" charset="0"/>
              </a:rPr>
              <a:t>​</a:t>
            </a:r>
            <a:br>
              <a:rPr lang="en-US" sz="1400" b="0" i="0" dirty="0">
                <a:effectLst/>
                <a:latin typeface="Lucida Console" panose="020B0609040504020204" pitchFamily="49" charset="0"/>
              </a:rPr>
            </a:b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Signif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. codes:  0 ‘***’ 0.001 ‘**’ 0.01 ‘*’ 0.05 ‘.’ 0.1 ‘ ’ 1</a:t>
            </a:r>
            <a:r>
              <a:rPr lang="en-US" sz="1400" b="0" i="0" dirty="0">
                <a:effectLst/>
                <a:latin typeface="Lucida Console" panose="020B0609040504020204" pitchFamily="49" charset="0"/>
              </a:rPr>
              <a:t>​</a:t>
            </a:r>
            <a:br>
              <a:rPr lang="en-US" sz="1400" b="0" i="0" dirty="0">
                <a:effectLst/>
                <a:latin typeface="Lucida Console" panose="020B0609040504020204" pitchFamily="49" charset="0"/>
              </a:rPr>
            </a:br>
            <a:r>
              <a:rPr lang="en-US" sz="1400" b="0" i="0" dirty="0">
                <a:effectLst/>
                <a:latin typeface="Lucida Console" panose="020B0609040504020204" pitchFamily="49" charset="0"/>
              </a:rPr>
              <a:t>​</a:t>
            </a:r>
            <a:br>
              <a:rPr lang="en-US" sz="1400" b="0" i="0" dirty="0">
                <a:effectLst/>
                <a:latin typeface="Lucida Console" panose="020B0609040504020204" pitchFamily="49" charset="0"/>
              </a:rPr>
            </a:b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Residual standard error: 13020 on 123334 degrees of freedom</a:t>
            </a:r>
            <a:r>
              <a:rPr lang="en-US" sz="1400" b="0" i="0" dirty="0">
                <a:effectLst/>
                <a:latin typeface="Lucida Console" panose="020B0609040504020204" pitchFamily="49" charset="0"/>
              </a:rPr>
              <a:t>​</a:t>
            </a:r>
            <a:br>
              <a:rPr lang="en-US" sz="1400" b="0" i="0" dirty="0">
                <a:effectLst/>
                <a:latin typeface="Lucida Console" panose="020B0609040504020204" pitchFamily="49" charset="0"/>
              </a:rPr>
            </a:b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Multiple R-squared:  0.2216, Adjusted R-squared:  0.2212 </a:t>
            </a:r>
            <a:r>
              <a:rPr lang="en-US" sz="1400" b="0" i="0" dirty="0">
                <a:effectLst/>
                <a:latin typeface="Lucida Console" panose="020B0609040504020204" pitchFamily="49" charset="0"/>
              </a:rPr>
              <a:t>​</a:t>
            </a:r>
            <a:br>
              <a:rPr lang="en-US" sz="1400" b="0" i="0" dirty="0">
                <a:effectLst/>
                <a:latin typeface="Lucida Console" panose="020B0609040504020204" pitchFamily="49" charset="0"/>
              </a:rPr>
            </a:b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F-statistic: 557.3 on 63 and 123334 DF,  p-value: &lt; 2.2e-16</a:t>
            </a:r>
            <a:r>
              <a:rPr lang="en-US" sz="1400" b="0" i="0" dirty="0">
                <a:effectLst/>
                <a:latin typeface="Lucida Console" panose="020B0609040504020204" pitchFamily="49" charset="0"/>
              </a:rPr>
              <a:t>​</a:t>
            </a:r>
            <a:endParaRPr lang="en-US" sz="1400" b="0" i="0" dirty="0"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E6D6F9-6542-D194-4BC0-FF037637BB64}"/>
              </a:ext>
            </a:extLst>
          </p:cNvPr>
          <p:cNvSpPr txBox="1"/>
          <p:nvPr/>
        </p:nvSpPr>
        <p:spPr>
          <a:xfrm>
            <a:off x="-1" y="0"/>
            <a:ext cx="3344091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haroni"/>
                <a:ea typeface="Calibri"/>
                <a:cs typeface="Calibri"/>
              </a:rPr>
              <a:t>Polynomial Regression </a:t>
            </a:r>
          </a:p>
          <a:p>
            <a:r>
              <a:rPr lang="en-US" sz="4400" dirty="0">
                <a:latin typeface="Aharoni"/>
                <a:ea typeface="Calibri"/>
                <a:cs typeface="Calibri"/>
              </a:rPr>
              <a:t>Results of</a:t>
            </a:r>
          </a:p>
          <a:p>
            <a:r>
              <a:rPr lang="en-US" sz="4400" dirty="0">
                <a:latin typeface="Aharoni"/>
                <a:ea typeface="Calibri"/>
                <a:cs typeface="Calibri"/>
              </a:rPr>
              <a:t>Model </a:t>
            </a:r>
            <a:r>
              <a:rPr lang="en-US" sz="4400" b="1" dirty="0">
                <a:latin typeface="Arial Black" panose="020B0604020202020204" pitchFamily="34" charset="0"/>
                <a:ea typeface="Calibri"/>
                <a:cs typeface="Arial Black" panose="020B0604020202020204" pitchFamily="34" charset="0"/>
              </a:rPr>
              <a:t>3</a:t>
            </a:r>
          </a:p>
          <a:p>
            <a:endParaRPr lang="en-US" dirty="0"/>
          </a:p>
        </p:txBody>
      </p:sp>
      <p:pic>
        <p:nvPicPr>
          <p:cNvPr id="4" name="Graphic 3" descr="Arrow: Slight curve with solid fill">
            <a:extLst>
              <a:ext uri="{FF2B5EF4-FFF2-40B4-BE49-F238E27FC236}">
                <a16:creationId xmlns:a16="http://schemas.microsoft.com/office/drawing/2014/main" id="{CDAF0A58-C860-FD5D-D48A-9BB46DEF7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1756" y="2620566"/>
            <a:ext cx="997788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863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A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8C565-2D30-561C-042C-F25316336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17" y="44381"/>
            <a:ext cx="10515600" cy="1325563"/>
          </a:xfrm>
        </p:spPr>
        <p:txBody>
          <a:bodyPr/>
          <a:lstStyle/>
          <a:p>
            <a:r>
              <a:rPr lang="en-US" dirty="0">
                <a:latin typeface="Aharoni"/>
                <a:ea typeface="+mj-lt"/>
                <a:cs typeface="+mj-lt"/>
              </a:rPr>
              <a:t>Insights from Regression Analysis on Insurance Premium Determinants</a:t>
            </a:r>
            <a:endParaRPr lang="en-US" dirty="0">
              <a:latin typeface="Aharon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26FD4-C465-F16E-7F78-90EB160E7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17" y="1799499"/>
            <a:ext cx="1147572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latin typeface="Calibri"/>
                <a:ea typeface="+mn-lt"/>
                <a:cs typeface="+mn-lt"/>
              </a:rPr>
              <a:t>Age demonstrates a non-linear relationship with annual premiums, indicated by the inclusion of </a:t>
            </a:r>
            <a:r>
              <a:rPr lang="en-US" b="1" dirty="0">
                <a:latin typeface="Calibri"/>
                <a:ea typeface="+mn-lt"/>
                <a:cs typeface="+mn-lt"/>
              </a:rPr>
              <a:t>polynomial terms (Age^2 and √Age)</a:t>
            </a:r>
            <a:r>
              <a:rPr lang="en-US" dirty="0">
                <a:latin typeface="Calibri"/>
                <a:ea typeface="+mn-lt"/>
                <a:cs typeface="+mn-lt"/>
              </a:rPr>
              <a:t>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>
              <a:buFont typeface="Wingdings" pitchFamily="2" charset="2"/>
              <a:buChar char="Ø"/>
            </a:pPr>
            <a:r>
              <a:rPr lang="en-US" b="1" dirty="0">
                <a:latin typeface="Calibri"/>
                <a:ea typeface="+mn-lt"/>
                <a:cs typeface="+mn-lt"/>
              </a:rPr>
              <a:t>Significant predictor</a:t>
            </a:r>
            <a:r>
              <a:rPr lang="en-US" dirty="0">
                <a:latin typeface="Calibri"/>
                <a:ea typeface="+mn-lt"/>
                <a:cs typeface="+mn-lt"/>
              </a:rPr>
              <a:t>s such as </a:t>
            </a:r>
            <a:r>
              <a:rPr lang="en-US" b="1" dirty="0">
                <a:latin typeface="Calibri"/>
                <a:ea typeface="+mn-lt"/>
                <a:cs typeface="+mn-lt"/>
              </a:rPr>
              <a:t>Region Code and Vehicle Age</a:t>
            </a:r>
            <a:r>
              <a:rPr lang="en-US" dirty="0">
                <a:latin typeface="Calibri"/>
                <a:ea typeface="+mn-lt"/>
                <a:cs typeface="+mn-lt"/>
              </a:rPr>
              <a:t> play crucial roles in determining premiums.</a:t>
            </a:r>
            <a:endParaRPr lang="en-US" dirty="0">
              <a:latin typeface="Calibri"/>
              <a:ea typeface="Calibri"/>
              <a:cs typeface="Calibri Light"/>
            </a:endParaRPr>
          </a:p>
          <a:p>
            <a:pPr>
              <a:buFont typeface="Wingdings" pitchFamily="2" charset="2"/>
              <a:buChar char="Ø"/>
            </a:pPr>
            <a:r>
              <a:rPr lang="en-US" b="1" i="0" u="none" strike="noStrike" dirty="0">
                <a:effectLst/>
                <a:latin typeface="Calibri" panose="020F0502020204030204" pitchFamily="34" charset="0"/>
              </a:rPr>
              <a:t>Age</a:t>
            </a:r>
            <a:r>
              <a:rPr lang="en-US" b="0" i="0" u="none" strike="noStrike" dirty="0">
                <a:effectLst/>
                <a:latin typeface="Calibri" panose="020F0502020204030204" pitchFamily="34" charset="0"/>
              </a:rPr>
              <a:t> exhibits a </a:t>
            </a:r>
            <a:r>
              <a:rPr lang="en-US" b="1" i="0" u="none" strike="noStrike" dirty="0">
                <a:effectLst/>
                <a:latin typeface="Calibri" panose="020F0502020204030204" pitchFamily="34" charset="0"/>
              </a:rPr>
              <a:t>negative linear effect</a:t>
            </a:r>
            <a:r>
              <a:rPr lang="en-US" b="0" i="0" u="none" strike="noStrike" dirty="0">
                <a:effectLst/>
                <a:latin typeface="Calibri" panose="020F0502020204030204" pitchFamily="34" charset="0"/>
              </a:rPr>
              <a:t> alongside </a:t>
            </a:r>
            <a:r>
              <a:rPr lang="en-US" b="1" i="0" u="none" strike="noStrike" dirty="0">
                <a:effectLst/>
                <a:latin typeface="Calibri" panose="020F0502020204030204" pitchFamily="34" charset="0"/>
              </a:rPr>
              <a:t>positive quadratic and </a:t>
            </a:r>
            <a:r>
              <a:rPr lang="en-US" b="1" i="0" u="none" strike="noStrike" dirty="0" err="1">
                <a:effectLst/>
                <a:latin typeface="Calibri" panose="020F0502020204030204" pitchFamily="34" charset="0"/>
              </a:rPr>
              <a:t>squareroot</a:t>
            </a:r>
            <a:r>
              <a:rPr lang="en-US" b="1" i="0" u="none" strike="noStrike" dirty="0">
                <a:effectLst/>
                <a:latin typeface="Calibri" panose="020F0502020204030204" pitchFamily="34" charset="0"/>
              </a:rPr>
              <a:t> </a:t>
            </a:r>
            <a:r>
              <a:rPr lang="en-US" b="0" i="0" u="none" strike="noStrike" dirty="0">
                <a:effectLst/>
                <a:latin typeface="Calibri" panose="020F0502020204030204" pitchFamily="34" charset="0"/>
              </a:rPr>
              <a:t>effects on premiums, revealing a </a:t>
            </a:r>
            <a:r>
              <a:rPr lang="en-US" b="1" i="0" u="none" strike="noStrike" dirty="0">
                <a:effectLst/>
                <a:latin typeface="Calibri" panose="020F0502020204030204" pitchFamily="34" charset="0"/>
              </a:rPr>
              <a:t>complex relationship.</a:t>
            </a:r>
            <a:endParaRPr lang="en-US" b="1" dirty="0">
              <a:latin typeface="Calibri"/>
              <a:ea typeface="Calibri"/>
              <a:cs typeface="Calibri Light"/>
            </a:endParaRPr>
          </a:p>
          <a:p>
            <a:pPr>
              <a:buFont typeface="Wingdings" pitchFamily="2" charset="2"/>
              <a:buChar char="Ø"/>
            </a:pPr>
            <a:r>
              <a:rPr lang="en-US" b="1" dirty="0">
                <a:latin typeface="Calibri"/>
                <a:ea typeface="+mn-lt"/>
                <a:cs typeface="+mn-lt"/>
              </a:rPr>
              <a:t>Gender, </a:t>
            </a:r>
            <a:r>
              <a:rPr lang="en-US" b="1" dirty="0" err="1">
                <a:latin typeface="Calibri"/>
                <a:ea typeface="+mn-lt"/>
                <a:cs typeface="+mn-lt"/>
              </a:rPr>
              <a:t>Vehicle_Age</a:t>
            </a:r>
            <a:r>
              <a:rPr lang="en-US" b="1" dirty="0">
                <a:latin typeface="Calibri"/>
                <a:ea typeface="+mn-lt"/>
                <a:cs typeface="+mn-lt"/>
              </a:rPr>
              <a:t>, </a:t>
            </a:r>
            <a:r>
              <a:rPr lang="en-US" b="1" dirty="0" err="1">
                <a:latin typeface="Calibri"/>
                <a:ea typeface="+mn-lt"/>
                <a:cs typeface="+mn-lt"/>
              </a:rPr>
              <a:t>Vehicle_Damage</a:t>
            </a:r>
            <a:r>
              <a:rPr lang="en-US" b="1" dirty="0">
                <a:latin typeface="Calibri"/>
                <a:ea typeface="+mn-lt"/>
                <a:cs typeface="+mn-lt"/>
              </a:rPr>
              <a:t>, and </a:t>
            </a:r>
            <a:r>
              <a:rPr lang="en-US" b="1" dirty="0" err="1">
                <a:latin typeface="Calibri"/>
                <a:ea typeface="+mn-lt"/>
                <a:cs typeface="+mn-lt"/>
              </a:rPr>
              <a:t>Previously_Insured</a:t>
            </a:r>
            <a:r>
              <a:rPr lang="en-US" dirty="0">
                <a:latin typeface="Calibri"/>
                <a:ea typeface="+mn-lt"/>
                <a:cs typeface="+mn-lt"/>
              </a:rPr>
              <a:t> also exert significant effects on premiums, emphasizing the diverse factors influencing insurance costs.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800" dirty="0">
              <a:ea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DD1C11-2847-4E54-7F89-DAC629BB2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1874" y="5307618"/>
            <a:ext cx="2760126" cy="1550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389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A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E36FD2-3D36-0F73-B271-6EC7C056E060}"/>
              </a:ext>
            </a:extLst>
          </p:cNvPr>
          <p:cNvSpPr txBox="1"/>
          <p:nvPr/>
        </p:nvSpPr>
        <p:spPr>
          <a:xfrm>
            <a:off x="553323" y="1075118"/>
            <a:ext cx="11464506" cy="36174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 algn="l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Ø"/>
            </a:pPr>
            <a:endParaRPr lang="en-US" sz="1200" dirty="0">
              <a:ea typeface="+mn-lt"/>
              <a:cs typeface="+mn-lt"/>
            </a:endParaRP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Ø"/>
            </a:pPr>
            <a:r>
              <a:rPr lang="en-US" sz="2800" b="1" dirty="0">
                <a:solidFill>
                  <a:srgbClr val="0D0D0D"/>
                </a:solidFill>
                <a:latin typeface="Calibri"/>
                <a:ea typeface="Calibri"/>
                <a:cs typeface="Arial"/>
              </a:rPr>
              <a:t>Regression models </a:t>
            </a:r>
            <a:r>
              <a:rPr lang="en-US" sz="2800" dirty="0">
                <a:solidFill>
                  <a:srgbClr val="0D0D0D"/>
                </a:solidFill>
                <a:latin typeface="Calibri"/>
                <a:ea typeface="Calibri"/>
                <a:cs typeface="Arial"/>
              </a:rPr>
              <a:t>demonstrate robust predictive power, influenced by key factors such as </a:t>
            </a:r>
            <a:r>
              <a:rPr lang="en-US" sz="2800" b="1" dirty="0">
                <a:solidFill>
                  <a:srgbClr val="0D0D0D"/>
                </a:solidFill>
                <a:latin typeface="Calibri"/>
                <a:ea typeface="Calibri"/>
                <a:cs typeface="Arial"/>
              </a:rPr>
              <a:t>age, prior insurance status, vehicle age, and damage</a:t>
            </a:r>
            <a:r>
              <a:rPr lang="en-US" sz="2800" dirty="0">
                <a:solidFill>
                  <a:srgbClr val="0D0D0D"/>
                </a:solidFill>
                <a:latin typeface="Calibri"/>
                <a:ea typeface="Calibri"/>
                <a:cs typeface="Arial"/>
              </a:rPr>
              <a:t>. These findings directly inform pricing strategies, enhancing accuracy and risk assessment for insurers and policyholders.</a:t>
            </a:r>
            <a:endParaRPr lang="en-US" sz="2800" dirty="0">
              <a:solidFill>
                <a:srgbClr val="0D0D0D"/>
              </a:solidFill>
              <a:latin typeface="Calibri"/>
              <a:ea typeface="Calibri Light"/>
              <a:cs typeface="Arial"/>
            </a:endParaRP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Ø"/>
            </a:pPr>
            <a:r>
              <a:rPr lang="en-US" sz="2800" dirty="0">
                <a:solidFill>
                  <a:srgbClr val="0D0D0D"/>
                </a:solidFill>
                <a:latin typeface="Calibri"/>
                <a:ea typeface="Calibri"/>
                <a:cs typeface="Arial"/>
              </a:rPr>
              <a:t>By integrating these insights into pricing models, insurers can tailor offerings more effectively, improving competitiveness and customer satisfaction. The benefits extend to both </a:t>
            </a:r>
            <a:r>
              <a:rPr lang="en-US" sz="2800" b="1" dirty="0">
                <a:solidFill>
                  <a:srgbClr val="0D0D0D"/>
                </a:solidFill>
                <a:latin typeface="Calibri"/>
                <a:ea typeface="Calibri"/>
                <a:cs typeface="Arial"/>
              </a:rPr>
              <a:t>insurers and policyholders</a:t>
            </a:r>
            <a:r>
              <a:rPr lang="en-US" sz="2800" dirty="0">
                <a:solidFill>
                  <a:srgbClr val="0D0D0D"/>
                </a:solidFill>
                <a:latin typeface="Calibri"/>
                <a:ea typeface="Calibri"/>
                <a:cs typeface="Arial"/>
              </a:rPr>
              <a:t>, fostering a more sustainable and efficient insurance marketplace.</a:t>
            </a:r>
            <a:endParaRPr lang="en-US" dirty="0">
              <a:latin typeface="Calibri"/>
              <a:ea typeface="Calibri"/>
              <a:cs typeface="Calibri Ligh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3B808FC-62CA-78F3-2C45-60DB098669DA}"/>
              </a:ext>
            </a:extLst>
          </p:cNvPr>
          <p:cNvSpPr>
            <a:spLocks noGrp="1"/>
          </p:cNvSpPr>
          <p:nvPr/>
        </p:nvSpPr>
        <p:spPr>
          <a:xfrm>
            <a:off x="553323" y="0"/>
            <a:ext cx="11464506" cy="8773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0D0D0D"/>
                </a:solidFill>
                <a:latin typeface="Aharoni"/>
                <a:ea typeface="+mj-lt"/>
                <a:cs typeface="+mj-lt"/>
              </a:rPr>
              <a:t>Model Evaluation &amp; Strategic Perspectives</a:t>
            </a:r>
            <a:endParaRPr lang="en-US" dirty="0">
              <a:solidFill>
                <a:srgbClr val="000000"/>
              </a:solidFill>
              <a:latin typeface="Aharoni"/>
              <a:ea typeface="+mj-lt"/>
              <a:cs typeface="Aharon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8EBE8F-64EF-4FB0-8BAD-62D946348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3006" y="4629497"/>
            <a:ext cx="2838995" cy="2228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8690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A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9BCDE16-A423-DAFF-351D-110F4954E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44081"/>
            <a:ext cx="10515600" cy="2648280"/>
          </a:xfrm>
        </p:spPr>
        <p:txBody>
          <a:bodyPr>
            <a:normAutofit/>
          </a:bodyPr>
          <a:lstStyle/>
          <a:p>
            <a:pPr algn="ctr"/>
            <a:r>
              <a:rPr lang="en-US" sz="13800" dirty="0">
                <a:latin typeface="Aharoni"/>
                <a:cs typeface="Calibri Light"/>
              </a:rPr>
              <a:t>Thank You!</a:t>
            </a:r>
            <a:endParaRPr lang="en-US" sz="13800" dirty="0">
              <a:latin typeface="Calibri Light" panose="020F0302020204030204"/>
              <a:ea typeface="Calibri Light"/>
              <a:cs typeface="Calibri Light" panose="020F0302020204030204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7F0D59-30D6-0A51-57FD-A39C73B08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19280" y="4654754"/>
            <a:ext cx="1714959" cy="22032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87FB51-45F6-4C72-F7A8-F44B543A3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239" y="4545801"/>
            <a:ext cx="1732360" cy="23121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A56C4C-5725-FD85-7D9A-6E0A67EFF4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545193" y="5558405"/>
            <a:ext cx="3101612" cy="12995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CA015C-CCF0-01D8-4EB2-54B6EAF70B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7316" y="4545801"/>
            <a:ext cx="837366" cy="94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9182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51BAE-8991-6ADD-B0CF-A2605828E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9534211">
            <a:off x="-446899" y="100721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PHOSPHATE INLINE" panose="02000506050000020004" pitchFamily="2" charset="77"/>
                <a:cs typeface="PHOSPHATE INLINE" panose="02000506050000020004" pitchFamily="2" charset="77"/>
              </a:rPr>
              <a:t>QUESTIONS?!</a:t>
            </a:r>
          </a:p>
        </p:txBody>
      </p:sp>
    </p:spTree>
    <p:extLst>
      <p:ext uri="{BB962C8B-B14F-4D97-AF65-F5344CB8AC3E}">
        <p14:creationId xmlns:p14="http://schemas.microsoft.com/office/powerpoint/2010/main" val="616654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1997</Words>
  <Application>Microsoft Macintosh PowerPoint</Application>
  <PresentationFormat>Widescreen</PresentationFormat>
  <Paragraphs>180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4" baseType="lpstr">
      <vt:lpstr>Aharoni</vt:lpstr>
      <vt:lpstr>Arial</vt:lpstr>
      <vt:lpstr>Arial Black</vt:lpstr>
      <vt:lpstr>Calibri</vt:lpstr>
      <vt:lpstr>Calibri Light</vt:lpstr>
      <vt:lpstr>Desdemona</vt:lpstr>
      <vt:lpstr>Lucida Console</vt:lpstr>
      <vt:lpstr>PHOSPHATE INLINE</vt:lpstr>
      <vt:lpstr>Segoe UI</vt:lpstr>
      <vt:lpstr>Wingdings</vt:lpstr>
      <vt:lpstr>Wingdings,Sans-Serif</vt:lpstr>
      <vt:lpstr>Office Theme</vt:lpstr>
      <vt:lpstr>PowerPoint Presentation</vt:lpstr>
      <vt:lpstr>Table of Contents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Gender-Based Insurance Premium Distribution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Residuals Plot of Model 3</vt:lpstr>
      <vt:lpstr>PowerPoint Presentation</vt:lpstr>
      <vt:lpstr>Insights from Regression Analysis on Insurance Premium Determinants</vt:lpstr>
      <vt:lpstr>PowerPoint Presentation</vt:lpstr>
      <vt:lpstr>Thank You!</vt:lpstr>
      <vt:lpstr>QUESTIONS?!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Abdel Hafize Ragomroglba Ouedraogo</dc:creator>
  <cp:lastModifiedBy>Andrew Prem Robert Erpula</cp:lastModifiedBy>
  <cp:revision>211</cp:revision>
  <dcterms:created xsi:type="dcterms:W3CDTF">2024-03-01T21:56:20Z</dcterms:created>
  <dcterms:modified xsi:type="dcterms:W3CDTF">2024-03-05T01:54:01Z</dcterms:modified>
</cp:coreProperties>
</file>